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6" r:id="rId5"/>
    <p:sldId id="265" r:id="rId6"/>
    <p:sldId id="263"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150" y="78"/>
      </p:cViewPr>
      <p:guideLst/>
    </p:cSldViewPr>
  </p:slideViewPr>
  <p:notesTextViewPr>
    <p:cViewPr>
      <p:scale>
        <a:sx n="1" d="1"/>
        <a:sy n="1" d="1"/>
      </p:scale>
      <p:origin x="0" y="0"/>
    </p:cViewPr>
  </p:notesTextViewPr>
  <p:sorterViewPr>
    <p:cViewPr>
      <p:scale>
        <a:sx n="100" d="100"/>
        <a:sy n="100" d="100"/>
      </p:scale>
      <p:origin x="0" y="-26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E388-3C06-6639-494C-0544B708AA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F25154-D114-75BA-2EA8-AC6BBFD26A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4A2496-B95A-B9A2-F423-D0591D2A960C}"/>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50648B09-78B1-4086-7043-7522312782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5CDF41-C6B7-9221-64CC-5A44F9784638}"/>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210135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336B-6D78-C1E9-83A0-91EF31DF4E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3687D3-A488-A413-6E95-722ECF3048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B2DEC9-906B-7A1B-D1DA-8B96AA203DDA}"/>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C967D1F8-B966-881F-CB95-7B5F2BA613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71B915-68E0-FDA3-2D5A-EBF5DE9B01A4}"/>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39637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0EBB3-6CFF-E4BB-8C33-4AA9F81B78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6699F0-70D7-FEAB-EF28-484D25F275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5E7516-362C-69AF-6DFA-B33222E01358}"/>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CBF5C7CA-8A99-832B-44A5-1FA9BC7292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764E89-785C-72C9-0550-7A9C1117C0A9}"/>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4165322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D487-4D4C-4172-D508-88185A8565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3843D1-252B-C997-3FF4-7C80641300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1A6C1A-6276-3930-7F40-9F27287268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BC21EF-3E00-11D4-C27B-9BD17D681E91}"/>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6" name="Footer Placeholder 5">
            <a:extLst>
              <a:ext uri="{FF2B5EF4-FFF2-40B4-BE49-F238E27FC236}">
                <a16:creationId xmlns:a16="http://schemas.microsoft.com/office/drawing/2014/main" id="{6E83CD98-E35D-8F9F-CEF2-DCEE4B143F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9B03DD-6D68-3CD6-135C-392EEC30A23C}"/>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668660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85CD8-990F-FD61-6973-2464579AAB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F57743-B2A7-13F2-2CC3-5A599608C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0B4F6E-719A-264D-EA8A-DB01360C0C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066448-F892-58D4-41CE-2A67360FF1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7270D5-7E78-6B1C-D3C1-E6ABA4BA69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DD790B-36A7-814C-9DD6-C8DEE4022735}"/>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8" name="Footer Placeholder 7">
            <a:extLst>
              <a:ext uri="{FF2B5EF4-FFF2-40B4-BE49-F238E27FC236}">
                <a16:creationId xmlns:a16="http://schemas.microsoft.com/office/drawing/2014/main" id="{5D31197B-D8B4-72E6-3622-0275179F66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EB1E00-C173-8D51-4562-9C5DB85253B2}"/>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4160773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E18F-DDEC-3B8A-81E3-3CD866F6A8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1CBCE3-7215-21BC-9338-9088228C97E1}"/>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4" name="Footer Placeholder 3">
            <a:extLst>
              <a:ext uri="{FF2B5EF4-FFF2-40B4-BE49-F238E27FC236}">
                <a16:creationId xmlns:a16="http://schemas.microsoft.com/office/drawing/2014/main" id="{8CBC11FB-BFA1-66E1-0F69-C3291FE4B1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FD03C0-AE6A-8560-6BE5-916C4B92A4B2}"/>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997281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DBBE3C-3361-AE13-20D6-A64CA10909CE}"/>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3" name="Footer Placeholder 2">
            <a:extLst>
              <a:ext uri="{FF2B5EF4-FFF2-40B4-BE49-F238E27FC236}">
                <a16:creationId xmlns:a16="http://schemas.microsoft.com/office/drawing/2014/main" id="{5CA20A69-20BD-1055-D1E0-7AB15FDAE5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27AB14-DA66-4E79-38DC-74BC813B80E9}"/>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21522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5949-F778-18A9-6EC9-C6BF522EEA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B6C321-3BBE-DA4C-9EC0-6D5885088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A160AF-D37C-E2EF-1CFE-A243F0E20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715D96-CC6B-4C87-BBEC-624292EC38D5}"/>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6" name="Footer Placeholder 5">
            <a:extLst>
              <a:ext uri="{FF2B5EF4-FFF2-40B4-BE49-F238E27FC236}">
                <a16:creationId xmlns:a16="http://schemas.microsoft.com/office/drawing/2014/main" id="{ED50E8F7-AC4A-B014-E117-9095DCDF54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58B77E-E677-1AD7-6E63-505BE2999AFB}"/>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293012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CE2B5-0244-797F-CB4B-D50B8CD30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EDDA2F-5EF4-07C9-BD46-D377C7309A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FFD074-B26C-CDD8-89E4-FA7126A9AA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0F948-41E0-5D0E-ACB7-57E0CF0FB7DC}"/>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6" name="Footer Placeholder 5">
            <a:extLst>
              <a:ext uri="{FF2B5EF4-FFF2-40B4-BE49-F238E27FC236}">
                <a16:creationId xmlns:a16="http://schemas.microsoft.com/office/drawing/2014/main" id="{1B26F976-49E3-196A-5344-612DFFCBED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3E2865-01D7-83FD-B64D-3317A60F9C81}"/>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68542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E836E-5AA2-6D61-A0FB-AE9BC24BA6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C20A87-2848-162C-C7B1-FD37401D7E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B68F98-E26A-8BE1-7546-0DDEDCF0E613}"/>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579E603B-2376-4D48-A39B-2555A1CDD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64BA9-3B7D-A5E5-3B67-183D505AC029}"/>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636560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B035A7-5C5C-EA7C-5E34-7E6ACEE848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C51B43-D9AE-CE17-D1C9-1EE6EAB883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49458A-1DE3-47C0-365B-871BFE20EE73}"/>
              </a:ext>
            </a:extLst>
          </p:cNvPr>
          <p:cNvSpPr>
            <a:spLocks noGrp="1"/>
          </p:cNvSpPr>
          <p:nvPr>
            <p:ph type="dt" sz="half" idx="10"/>
          </p:nvPr>
        </p:nvSpPr>
        <p:spPr/>
        <p:txBody>
          <a:body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13FDC9FB-8168-4EB6-B1EE-C297F05138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59608-CB82-6367-D736-3808D8959D4B}"/>
              </a:ext>
            </a:extLst>
          </p:cNvPr>
          <p:cNvSpPr>
            <a:spLocks noGrp="1"/>
          </p:cNvSpPr>
          <p:nvPr>
            <p:ph type="sldNum" sz="quarter" idx="12"/>
          </p:nvPr>
        </p:nvSpPr>
        <p:spPr/>
        <p:txBody>
          <a:bodyPr/>
          <a:lstStyle/>
          <a:p>
            <a:fld id="{C9F44430-195E-446C-B241-9E99356A65CA}" type="slidenum">
              <a:rPr lang="en-IN" smtClean="0"/>
              <a:t>‹#›</a:t>
            </a:fld>
            <a:endParaRPr lang="en-IN"/>
          </a:p>
        </p:txBody>
      </p:sp>
    </p:spTree>
    <p:extLst>
      <p:ext uri="{BB962C8B-B14F-4D97-AF65-F5344CB8AC3E}">
        <p14:creationId xmlns:p14="http://schemas.microsoft.com/office/powerpoint/2010/main" val="3329677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15A8D9-B96D-9F2E-29D2-15136831B0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7C7275-CBDA-B6C1-7492-B856EF5645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B00E4B-301A-8CDE-2DBB-EA4F43A5EB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D6B125-20AC-4E8E-B59D-419168A24A10}" type="datetimeFigureOut">
              <a:rPr lang="en-IN" smtClean="0"/>
              <a:t>26-04-2025</a:t>
            </a:fld>
            <a:endParaRPr lang="en-IN"/>
          </a:p>
        </p:txBody>
      </p:sp>
      <p:sp>
        <p:nvSpPr>
          <p:cNvPr id="5" name="Footer Placeholder 4">
            <a:extLst>
              <a:ext uri="{FF2B5EF4-FFF2-40B4-BE49-F238E27FC236}">
                <a16:creationId xmlns:a16="http://schemas.microsoft.com/office/drawing/2014/main" id="{0B432A7F-88C9-F204-F410-F666B03AB4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DDD0D90-5348-0368-7C1F-7F5FF77105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F44430-195E-446C-B241-9E99356A65CA}" type="slidenum">
              <a:rPr lang="en-IN" smtClean="0"/>
              <a:t>‹#›</a:t>
            </a:fld>
            <a:endParaRPr lang="en-IN"/>
          </a:p>
        </p:txBody>
      </p:sp>
    </p:spTree>
    <p:extLst>
      <p:ext uri="{BB962C8B-B14F-4D97-AF65-F5344CB8AC3E}">
        <p14:creationId xmlns:p14="http://schemas.microsoft.com/office/powerpoint/2010/main" val="895742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F61D952-C693-66B2-1BCD-FC13F9F9731C}"/>
              </a:ext>
            </a:extLst>
          </p:cNvPr>
          <p:cNvSpPr txBox="1"/>
          <p:nvPr/>
        </p:nvSpPr>
        <p:spPr>
          <a:xfrm>
            <a:off x="794479" y="824458"/>
            <a:ext cx="10103370" cy="5478423"/>
          </a:xfrm>
          <a:prstGeom prst="rect">
            <a:avLst/>
          </a:prstGeom>
          <a:noFill/>
        </p:spPr>
        <p:txBody>
          <a:bodyPr wrap="square">
            <a:spAutoFit/>
          </a:bodyPr>
          <a:lstStyle/>
          <a:p>
            <a:pPr algn="l">
              <a:buNone/>
            </a:pPr>
            <a:r>
              <a:rPr lang="en-US" sz="3200" b="1" i="0" dirty="0">
                <a:solidFill>
                  <a:srgbClr val="111827"/>
                </a:solidFill>
                <a:effectLst/>
                <a:latin typeface="ProximaVara-Roman"/>
              </a:rPr>
              <a:t>Exploring Reasoning Approaches in AI Models</a:t>
            </a:r>
          </a:p>
          <a:p>
            <a:pPr algn="l">
              <a:buNone/>
            </a:pPr>
            <a:endParaRPr lang="en-US" sz="3200" b="1" i="0" dirty="0">
              <a:solidFill>
                <a:srgbClr val="111827"/>
              </a:solidFill>
              <a:effectLst/>
              <a:latin typeface="ProximaVara-Roman"/>
            </a:endParaRPr>
          </a:p>
          <a:p>
            <a:pPr algn="l">
              <a:buNone/>
            </a:pPr>
            <a:r>
              <a:rPr lang="en-US" sz="2800" b="1" i="0" dirty="0">
                <a:solidFill>
                  <a:srgbClr val="111827"/>
                </a:solidFill>
                <a:effectLst/>
                <a:latin typeface="ProximaVara-Roman"/>
              </a:rPr>
              <a:t>Introduction</a:t>
            </a:r>
          </a:p>
          <a:p>
            <a:pPr algn="l">
              <a:buNone/>
            </a:pPr>
            <a:r>
              <a:rPr lang="en-US" b="0" i="0" dirty="0">
                <a:solidFill>
                  <a:srgbClr val="000000"/>
                </a:solidFill>
                <a:effectLst/>
                <a:latin typeface="ProximaVara-Roman"/>
              </a:rPr>
              <a:t>In the rapidly evolving landscape of artificial intelligence (AI), understanding how AI models arrive at conclusions is crucial for ensuring their reliability and alignment with human values. This report delves into various reasoning approaches employed in modern AI models, particularly focusing on Large Language Models (LLMs). By examining these approaches, we can better evaluate their effectiveness and identify potential risks, ultimately contributing to a safer and more trustworthy digital world.</a:t>
            </a:r>
            <a:r>
              <a:rPr lang="en-US" b="1" i="0" dirty="0">
                <a:solidFill>
                  <a:srgbClr val="111827"/>
                </a:solidFill>
                <a:effectLst/>
                <a:latin typeface="ProximaVara-Roman"/>
              </a:rPr>
              <a:t> </a:t>
            </a:r>
          </a:p>
          <a:p>
            <a:pPr algn="l">
              <a:buNone/>
            </a:pPr>
            <a:endParaRPr lang="en-US" b="1" i="0" dirty="0">
              <a:solidFill>
                <a:srgbClr val="111827"/>
              </a:solidFill>
              <a:effectLst/>
              <a:latin typeface="ProximaVara-Roman"/>
            </a:endParaRPr>
          </a:p>
          <a:p>
            <a:pPr algn="l">
              <a:buNone/>
            </a:pPr>
            <a:r>
              <a:rPr lang="en-US" sz="2400" b="1" i="0" dirty="0">
                <a:solidFill>
                  <a:srgbClr val="111827"/>
                </a:solidFill>
                <a:effectLst/>
                <a:latin typeface="ProximaVara-Roman"/>
              </a:rPr>
              <a:t>Explanation of Reasoning Approaches</a:t>
            </a:r>
          </a:p>
          <a:p>
            <a:pPr algn="l">
              <a:buFont typeface="+mj-lt"/>
              <a:buAutoNum type="arabicPeriod"/>
            </a:pPr>
            <a:r>
              <a:rPr lang="en-US" b="1" i="0" dirty="0">
                <a:solidFill>
                  <a:srgbClr val="111827"/>
                </a:solidFill>
                <a:effectLst/>
                <a:latin typeface="ProximaVara-Roman"/>
              </a:rPr>
              <a:t>Deductive Reasoning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Deductive reasoning involves starting with general principles and deriving specific conclusions. If the premises are true, the conclusion must also be true.</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If all mammals are warm-blooded (premise 1) and a whale is a mammal (premise 2), then a whale is warm-blooded (conclusion).</a:t>
            </a:r>
          </a:p>
          <a:p>
            <a:pPr algn="l"/>
            <a:endParaRPr lang="en-US" b="0" i="0" dirty="0">
              <a:solidFill>
                <a:srgbClr val="000000"/>
              </a:solidFill>
              <a:effectLst/>
              <a:latin typeface="ProximaVara-Roman"/>
            </a:endParaRPr>
          </a:p>
          <a:p>
            <a:pPr algn="l"/>
            <a:endParaRPr lang="en-US" b="0" i="0" dirty="0">
              <a:solidFill>
                <a:srgbClr val="000000"/>
              </a:solidFill>
              <a:effectLst/>
              <a:latin typeface="ProximaVara-Roman"/>
            </a:endParaRPr>
          </a:p>
        </p:txBody>
      </p:sp>
    </p:spTree>
    <p:extLst>
      <p:ext uri="{BB962C8B-B14F-4D97-AF65-F5344CB8AC3E}">
        <p14:creationId xmlns:p14="http://schemas.microsoft.com/office/powerpoint/2010/main" val="178219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7D10BC-094F-9430-CA84-494102C40CE8}"/>
              </a:ext>
            </a:extLst>
          </p:cNvPr>
          <p:cNvSpPr txBox="1"/>
          <p:nvPr/>
        </p:nvSpPr>
        <p:spPr>
          <a:xfrm>
            <a:off x="1019331" y="494676"/>
            <a:ext cx="9114020" cy="7571303"/>
          </a:xfrm>
          <a:prstGeom prst="rect">
            <a:avLst/>
          </a:prstGeom>
          <a:noFill/>
        </p:spPr>
        <p:txBody>
          <a:bodyPr wrap="square">
            <a:spAutoFit/>
          </a:bodyPr>
          <a:lstStyle/>
          <a:p>
            <a:pPr algn="l"/>
            <a:r>
              <a:rPr lang="en-US" b="1" dirty="0">
                <a:solidFill>
                  <a:srgbClr val="111827"/>
                </a:solidFill>
                <a:latin typeface="ProximaVara-Roman"/>
              </a:rPr>
              <a:t>2</a:t>
            </a:r>
            <a:r>
              <a:rPr lang="en-US" b="1" i="0" dirty="0">
                <a:solidFill>
                  <a:srgbClr val="111827"/>
                </a:solidFill>
                <a:effectLst/>
                <a:latin typeface="ProximaVara-Roman"/>
              </a:rPr>
              <a:t>.Inductive Reasoning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Inductive reasoning makes generalizations based on specific observations. It does not guarantee the truth of the conclusion but suggests a probable outcome.</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Observing that the sun has risen every day leads to the conclusion that it will rise again tomorrow.</a:t>
            </a:r>
          </a:p>
          <a:p>
            <a:pPr algn="l"/>
            <a:r>
              <a:rPr lang="en-US" b="1" dirty="0">
                <a:solidFill>
                  <a:srgbClr val="111827"/>
                </a:solidFill>
                <a:latin typeface="ProximaVara-Roman"/>
              </a:rPr>
              <a:t>3</a:t>
            </a:r>
            <a:r>
              <a:rPr lang="en-US" b="1" i="0" dirty="0">
                <a:solidFill>
                  <a:srgbClr val="111827"/>
                </a:solidFill>
                <a:effectLst/>
                <a:latin typeface="ProximaVara-Roman"/>
              </a:rPr>
              <a:t>.bductive Reasoning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Abductive reasoning seeks the best explanation for a set of observations, often used in diagnostic contexts.</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If a patient has a cough and fever, a doctor might conclude that the patient has an infection.</a:t>
            </a:r>
          </a:p>
          <a:p>
            <a:pPr algn="l"/>
            <a:r>
              <a:rPr lang="en-US" b="1" dirty="0">
                <a:solidFill>
                  <a:srgbClr val="111827"/>
                </a:solidFill>
                <a:latin typeface="ProximaVara-Roman"/>
              </a:rPr>
              <a:t>4</a:t>
            </a:r>
            <a:r>
              <a:rPr lang="en-US" b="1" i="0" dirty="0">
                <a:solidFill>
                  <a:srgbClr val="111827"/>
                </a:solidFill>
                <a:effectLst/>
                <a:latin typeface="ProximaVara-Roman"/>
              </a:rPr>
              <a:t>.Analogical Reasoning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This approach draws parallels between similar situations to infer conclusions.</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If a new treatment works for one type of cancer, it might be inferred that it could work for a similar type.</a:t>
            </a:r>
          </a:p>
          <a:p>
            <a:pPr algn="l"/>
            <a:r>
              <a:rPr lang="en-US" b="1" dirty="0">
                <a:solidFill>
                  <a:srgbClr val="111827"/>
                </a:solidFill>
                <a:latin typeface="ProximaVara-Roman"/>
              </a:rPr>
              <a:t>5</a:t>
            </a:r>
            <a:r>
              <a:rPr lang="en-US" b="1" i="0" dirty="0">
                <a:solidFill>
                  <a:srgbClr val="111827"/>
                </a:solidFill>
                <a:effectLst/>
                <a:latin typeface="ProximaVara-Roman"/>
              </a:rPr>
              <a:t>.Causal Reasoning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Causal reasoning identifies cause-and-effect relationships, helping to understand how one event leads to another.</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Increased exercise leads to weight loss, establishing a causal link.</a:t>
            </a:r>
          </a:p>
          <a:p>
            <a:pPr marL="742950" lvl="1" indent="-285750" algn="l">
              <a:buFont typeface="+mj-lt"/>
              <a:buAutoNum type="arabicPeriod"/>
            </a:pPr>
            <a:endParaRPr lang="en-US" b="0" i="0" dirty="0">
              <a:solidFill>
                <a:srgbClr val="000000"/>
              </a:solidFill>
              <a:effectLst/>
              <a:latin typeface="ProximaVara-Roman"/>
            </a:endParaRPr>
          </a:p>
          <a:p>
            <a:pPr marL="742950" lvl="1" indent="-285750" algn="l">
              <a:buFont typeface="+mj-lt"/>
              <a:buAutoNum type="arabicPeriod"/>
            </a:pPr>
            <a:endParaRPr lang="en-US" dirty="0">
              <a:solidFill>
                <a:srgbClr val="000000"/>
              </a:solidFill>
              <a:latin typeface="ProximaVara-Roman"/>
            </a:endParaRPr>
          </a:p>
          <a:p>
            <a:pPr marL="742950" lvl="1" indent="-285750" algn="l">
              <a:buFont typeface="+mj-lt"/>
              <a:buAutoNum type="arabicPeriod"/>
            </a:pPr>
            <a:endParaRPr lang="en-US" b="0" i="0" dirty="0">
              <a:solidFill>
                <a:srgbClr val="000000"/>
              </a:solidFill>
              <a:effectLst/>
              <a:latin typeface="ProximaVara-Roman"/>
            </a:endParaRPr>
          </a:p>
          <a:p>
            <a:pPr marL="742950" lvl="1" indent="-285750" algn="l">
              <a:buFont typeface="+mj-lt"/>
              <a:buAutoNum type="arabicPeriod"/>
            </a:pPr>
            <a:endParaRPr lang="en-US" dirty="0">
              <a:solidFill>
                <a:srgbClr val="000000"/>
              </a:solidFill>
              <a:latin typeface="ProximaVara-Roman"/>
            </a:endParaRPr>
          </a:p>
          <a:p>
            <a:pPr marL="742950" lvl="1" indent="-285750" algn="l">
              <a:buFont typeface="+mj-lt"/>
              <a:buAutoNum type="arabicPeriod"/>
            </a:pPr>
            <a:endParaRPr lang="en-US" b="0" i="0" dirty="0">
              <a:solidFill>
                <a:srgbClr val="000000"/>
              </a:solidFill>
              <a:effectLst/>
              <a:latin typeface="ProximaVara-Roman"/>
            </a:endParaRPr>
          </a:p>
          <a:p>
            <a:pPr marL="742950" lvl="1" indent="-285750" algn="l">
              <a:buFont typeface="+mj-lt"/>
              <a:buAutoNum type="arabicPeriod"/>
            </a:pPr>
            <a:endParaRPr lang="en-US" dirty="0">
              <a:solidFill>
                <a:srgbClr val="000000"/>
              </a:solidFill>
              <a:latin typeface="ProximaVara-Roman"/>
            </a:endParaRPr>
          </a:p>
          <a:p>
            <a:pPr marL="742950" lvl="1" indent="-285750" algn="l">
              <a:buFont typeface="+mj-lt"/>
              <a:buAutoNum type="arabicPeriod"/>
            </a:pPr>
            <a:endParaRPr lang="en-US" b="0" i="0" dirty="0">
              <a:solidFill>
                <a:srgbClr val="000000"/>
              </a:solidFill>
              <a:effectLst/>
              <a:latin typeface="ProximaVara-Roman"/>
            </a:endParaRPr>
          </a:p>
          <a:p>
            <a:pPr lvl="1" algn="l"/>
            <a:endParaRPr lang="en-US" b="0" i="0" dirty="0">
              <a:solidFill>
                <a:srgbClr val="000000"/>
              </a:solidFill>
              <a:effectLst/>
              <a:latin typeface="ProximaVara-Roman"/>
            </a:endParaRPr>
          </a:p>
        </p:txBody>
      </p:sp>
    </p:spTree>
    <p:extLst>
      <p:ext uri="{BB962C8B-B14F-4D97-AF65-F5344CB8AC3E}">
        <p14:creationId xmlns:p14="http://schemas.microsoft.com/office/powerpoint/2010/main" val="1184500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5251D7-A21C-4DFC-3426-8DBE99BA64F2}"/>
              </a:ext>
            </a:extLst>
          </p:cNvPr>
          <p:cNvSpPr txBox="1"/>
          <p:nvPr/>
        </p:nvSpPr>
        <p:spPr>
          <a:xfrm>
            <a:off x="989350" y="554636"/>
            <a:ext cx="8514413" cy="4247317"/>
          </a:xfrm>
          <a:prstGeom prst="rect">
            <a:avLst/>
          </a:prstGeom>
          <a:noFill/>
        </p:spPr>
        <p:txBody>
          <a:bodyPr wrap="square">
            <a:spAutoFit/>
          </a:bodyPr>
          <a:lstStyle/>
          <a:p>
            <a:pPr algn="l"/>
            <a:r>
              <a:rPr lang="en-US" b="1" i="0" dirty="0">
                <a:solidFill>
                  <a:srgbClr val="111827"/>
                </a:solidFill>
                <a:effectLst/>
                <a:latin typeface="ProximaVara-Roman"/>
              </a:rPr>
              <a:t>6.Chain-of-Thought (</a:t>
            </a:r>
            <a:r>
              <a:rPr lang="en-US" b="1" i="0" dirty="0" err="1">
                <a:solidFill>
                  <a:srgbClr val="111827"/>
                </a:solidFill>
                <a:effectLst/>
                <a:latin typeface="ProximaVara-Roman"/>
              </a:rPr>
              <a:t>CoT</a:t>
            </a:r>
            <a:r>
              <a:rPr lang="en-US" b="1" i="0" dirty="0">
                <a:solidFill>
                  <a:srgbClr val="111827"/>
                </a:solidFill>
                <a:effectLst/>
                <a:latin typeface="ProximaVara-Roman"/>
              </a:rPr>
              <a:t>) Prompting</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a:t>
            </a:r>
            <a:r>
              <a:rPr lang="en-US" b="0" i="0" dirty="0" err="1">
                <a:solidFill>
                  <a:srgbClr val="000000"/>
                </a:solidFill>
                <a:effectLst/>
                <a:latin typeface="ProximaVara-Roman"/>
              </a:rPr>
              <a:t>CoT</a:t>
            </a:r>
            <a:r>
              <a:rPr lang="en-US" b="0" i="0" dirty="0">
                <a:solidFill>
                  <a:srgbClr val="000000"/>
                </a:solidFill>
                <a:effectLst/>
                <a:latin typeface="ProximaVara-Roman"/>
              </a:rPr>
              <a:t> prompting encourages models to articulate their reasoning step-by-step, improving transparency and accuracy.</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A model explaining its reasoning for solving a math problem by detailing each calculation.</a:t>
            </a:r>
          </a:p>
          <a:p>
            <a:pPr algn="l"/>
            <a:r>
              <a:rPr lang="en-US" b="1" i="0" dirty="0">
                <a:solidFill>
                  <a:srgbClr val="111827"/>
                </a:solidFill>
                <a:effectLst/>
                <a:latin typeface="ProximaVara-Roman"/>
              </a:rPr>
              <a:t>7.Tree-of-Thoughts (</a:t>
            </a:r>
            <a:r>
              <a:rPr lang="en-US" b="1" i="0" dirty="0" err="1">
                <a:solidFill>
                  <a:srgbClr val="111827"/>
                </a:solidFill>
                <a:effectLst/>
                <a:latin typeface="ProximaVara-Roman"/>
              </a:rPr>
              <a:t>ToT</a:t>
            </a:r>
            <a:r>
              <a:rPr lang="en-US" b="1" i="0" dirty="0">
                <a:solidFill>
                  <a:srgbClr val="111827"/>
                </a:solidFill>
                <a:effectLst/>
                <a:latin typeface="ProximaVara-Roman"/>
              </a:rPr>
              <a:t>)</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a:t>
            </a:r>
            <a:r>
              <a:rPr lang="en-US" b="0" i="0" dirty="0" err="1">
                <a:solidFill>
                  <a:srgbClr val="000000"/>
                </a:solidFill>
                <a:effectLst/>
                <a:latin typeface="ProximaVara-Roman"/>
              </a:rPr>
              <a:t>ToT</a:t>
            </a:r>
            <a:r>
              <a:rPr lang="en-US" b="0" i="0" dirty="0">
                <a:solidFill>
                  <a:srgbClr val="000000"/>
                </a:solidFill>
                <a:effectLst/>
                <a:latin typeface="ProximaVara-Roman"/>
              </a:rPr>
              <a:t> structures reasoning hierarchically, allowing exploration of multiple branches of thought.</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A model evaluating various solutions to a problem, branching out to assess each option.</a:t>
            </a:r>
          </a:p>
          <a:p>
            <a:pPr algn="l"/>
            <a:r>
              <a:rPr lang="en-US" b="1" i="0" dirty="0">
                <a:solidFill>
                  <a:srgbClr val="111827"/>
                </a:solidFill>
                <a:effectLst/>
                <a:latin typeface="ProximaVara-Roman"/>
              </a:rPr>
              <a:t>8.Graph-based Reasoning / Knowledge Graphs</a:t>
            </a:r>
            <a:r>
              <a:rPr lang="en-US" b="0" i="0" dirty="0">
                <a:solidFill>
                  <a:srgbClr val="000000"/>
                </a:solidFill>
                <a:effectLst/>
                <a:latin typeface="ProximaVara-Roman"/>
              </a:rPr>
              <a:t>:</a:t>
            </a:r>
          </a:p>
          <a:p>
            <a:pPr marL="742950" lvl="1" indent="-285750" algn="l">
              <a:buFont typeface="+mj-lt"/>
              <a:buAutoNum type="arabicPeriod"/>
            </a:pPr>
            <a:r>
              <a:rPr lang="en-US" b="1" i="0" dirty="0">
                <a:solidFill>
                  <a:srgbClr val="111827"/>
                </a:solidFill>
                <a:effectLst/>
                <a:latin typeface="ProximaVara-Roman"/>
              </a:rPr>
              <a:t>Explanation</a:t>
            </a:r>
            <a:r>
              <a:rPr lang="en-US" b="0" i="0" dirty="0">
                <a:solidFill>
                  <a:srgbClr val="000000"/>
                </a:solidFill>
                <a:effectLst/>
                <a:latin typeface="ProximaVara-Roman"/>
              </a:rPr>
              <a:t>: This approach uses graph structures to represent relationships between entities, facilitating complex reasoning.</a:t>
            </a:r>
          </a:p>
          <a:p>
            <a:pPr marL="742950" lvl="1" indent="-285750" algn="l">
              <a:buFont typeface="+mj-lt"/>
              <a:buAutoNum type="arabicPeriod"/>
            </a:pPr>
            <a:r>
              <a:rPr lang="en-US" b="1" i="0" dirty="0">
                <a:solidFill>
                  <a:srgbClr val="111827"/>
                </a:solidFill>
                <a:effectLst/>
                <a:latin typeface="ProximaVara-Roman"/>
              </a:rPr>
              <a:t>Example</a:t>
            </a:r>
            <a:r>
              <a:rPr lang="en-US" b="0" i="0" dirty="0">
                <a:solidFill>
                  <a:srgbClr val="000000"/>
                </a:solidFill>
                <a:effectLst/>
                <a:latin typeface="ProximaVara-Roman"/>
              </a:rPr>
              <a:t>: A knowledge graph connecting various concepts, allowing a model to infer new relationships.</a:t>
            </a:r>
          </a:p>
        </p:txBody>
      </p:sp>
    </p:spTree>
    <p:extLst>
      <p:ext uri="{BB962C8B-B14F-4D97-AF65-F5344CB8AC3E}">
        <p14:creationId xmlns:p14="http://schemas.microsoft.com/office/powerpoint/2010/main" val="1316086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CE69C-58CD-8117-0E2A-85621597926F}"/>
              </a:ext>
            </a:extLst>
          </p:cNvPr>
          <p:cNvSpPr>
            <a:spLocks noGrp="1"/>
          </p:cNvSpPr>
          <p:nvPr>
            <p:ph type="title"/>
          </p:nvPr>
        </p:nvSpPr>
        <p:spPr>
          <a:xfrm>
            <a:off x="838200" y="-480447"/>
            <a:ext cx="10515600" cy="2171135"/>
          </a:xfrm>
        </p:spPr>
        <p:txBody>
          <a:bodyPr>
            <a:normAutofit/>
          </a:bodyPr>
          <a:lstStyle/>
          <a:p>
            <a:r>
              <a:rPr lang="en-IN" sz="3600" b="1" i="0" dirty="0">
                <a:solidFill>
                  <a:srgbClr val="111827"/>
                </a:solidFill>
                <a:effectLst/>
                <a:latin typeface="ProximaVara-Roman"/>
              </a:rPr>
              <a:t>Comparison of Reasoning Approaches</a:t>
            </a:r>
            <a:br>
              <a:rPr lang="en-IN" sz="3600" b="1" i="0" dirty="0">
                <a:solidFill>
                  <a:srgbClr val="111827"/>
                </a:solidFill>
                <a:effectLst/>
                <a:latin typeface="ProximaVara-Roman"/>
              </a:rPr>
            </a:br>
            <a:endParaRPr lang="en-IN" sz="3600" dirty="0"/>
          </a:p>
        </p:txBody>
      </p:sp>
      <p:graphicFrame>
        <p:nvGraphicFramePr>
          <p:cNvPr id="3" name="Table 2">
            <a:extLst>
              <a:ext uri="{FF2B5EF4-FFF2-40B4-BE49-F238E27FC236}">
                <a16:creationId xmlns:a16="http://schemas.microsoft.com/office/drawing/2014/main" id="{5F32D3AE-E96E-8B38-1C15-2E08A6ECDF09}"/>
              </a:ext>
            </a:extLst>
          </p:cNvPr>
          <p:cNvGraphicFramePr>
            <a:graphicFrameLocks noGrp="1"/>
          </p:cNvGraphicFramePr>
          <p:nvPr>
            <p:extLst>
              <p:ext uri="{D42A27DB-BD31-4B8C-83A1-F6EECF244321}">
                <p14:modId xmlns:p14="http://schemas.microsoft.com/office/powerpoint/2010/main" val="3545899033"/>
              </p:ext>
            </p:extLst>
          </p:nvPr>
        </p:nvGraphicFramePr>
        <p:xfrm>
          <a:off x="0" y="719666"/>
          <a:ext cx="12192000" cy="6138333"/>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954648283"/>
                    </a:ext>
                  </a:extLst>
                </a:gridCol>
                <a:gridCol w="3048000">
                  <a:extLst>
                    <a:ext uri="{9D8B030D-6E8A-4147-A177-3AD203B41FA5}">
                      <a16:colId xmlns:a16="http://schemas.microsoft.com/office/drawing/2014/main" val="1749938173"/>
                    </a:ext>
                  </a:extLst>
                </a:gridCol>
                <a:gridCol w="3048000">
                  <a:extLst>
                    <a:ext uri="{9D8B030D-6E8A-4147-A177-3AD203B41FA5}">
                      <a16:colId xmlns:a16="http://schemas.microsoft.com/office/drawing/2014/main" val="83971784"/>
                    </a:ext>
                  </a:extLst>
                </a:gridCol>
                <a:gridCol w="3048000">
                  <a:extLst>
                    <a:ext uri="{9D8B030D-6E8A-4147-A177-3AD203B41FA5}">
                      <a16:colId xmlns:a16="http://schemas.microsoft.com/office/drawing/2014/main" val="688471157"/>
                    </a:ext>
                  </a:extLst>
                </a:gridCol>
              </a:tblGrid>
              <a:tr h="549140">
                <a:tc>
                  <a:txBody>
                    <a:bodyPr/>
                    <a:lstStyle/>
                    <a:p>
                      <a:pPr algn="l" fontAlgn="b"/>
                      <a:r>
                        <a:rPr lang="en-IN" b="1" dirty="0">
                          <a:solidFill>
                            <a:srgbClr val="111827"/>
                          </a:solidFill>
                          <a:effectLst/>
                        </a:rPr>
                        <a:t>Approach</a:t>
                      </a:r>
                    </a:p>
                  </a:txBody>
                  <a:tcPr anchor="b"/>
                </a:tc>
                <a:tc>
                  <a:txBody>
                    <a:bodyPr/>
                    <a:lstStyle/>
                    <a:p>
                      <a:pPr algn="l" fontAlgn="b"/>
                      <a:r>
                        <a:rPr lang="en-IN" b="1">
                          <a:solidFill>
                            <a:srgbClr val="111827"/>
                          </a:solidFill>
                          <a:effectLst/>
                        </a:rPr>
                        <a:t>Underlying Principles</a:t>
                      </a:r>
                    </a:p>
                  </a:txBody>
                  <a:tcPr anchor="b"/>
                </a:tc>
                <a:tc>
                  <a:txBody>
                    <a:bodyPr/>
                    <a:lstStyle/>
                    <a:p>
                      <a:pPr algn="l" fontAlgn="b"/>
                      <a:r>
                        <a:rPr lang="en-IN" b="1">
                          <a:solidFill>
                            <a:srgbClr val="111827"/>
                          </a:solidFill>
                          <a:effectLst/>
                        </a:rPr>
                        <a:t>Information Processing</a:t>
                      </a:r>
                    </a:p>
                  </a:txBody>
                  <a:tcPr anchor="b"/>
                </a:tc>
                <a:tc>
                  <a:txBody>
                    <a:bodyPr/>
                    <a:lstStyle/>
                    <a:p>
                      <a:pPr algn="l" fontAlgn="b"/>
                      <a:r>
                        <a:rPr lang="en-IN" b="1">
                          <a:solidFill>
                            <a:srgbClr val="111827"/>
                          </a:solidFill>
                          <a:effectLst/>
                        </a:rPr>
                        <a:t>Best Suited For</a:t>
                      </a:r>
                    </a:p>
                  </a:txBody>
                  <a:tcPr anchor="b"/>
                </a:tc>
                <a:extLst>
                  <a:ext uri="{0D108BD9-81ED-4DB2-BD59-A6C34878D82A}">
                    <a16:rowId xmlns:a16="http://schemas.microsoft.com/office/drawing/2014/main" val="2430549805"/>
                  </a:ext>
                </a:extLst>
              </a:tr>
              <a:tr h="947831">
                <a:tc>
                  <a:txBody>
                    <a:bodyPr/>
                    <a:lstStyle/>
                    <a:p>
                      <a:pPr algn="l" fontAlgn="base"/>
                      <a:r>
                        <a:rPr lang="en-IN">
                          <a:effectLst/>
                        </a:rPr>
                        <a:t>Deductive</a:t>
                      </a:r>
                    </a:p>
                  </a:txBody>
                  <a:tcPr anchor="ctr"/>
                </a:tc>
                <a:tc>
                  <a:txBody>
                    <a:bodyPr/>
                    <a:lstStyle/>
                    <a:p>
                      <a:pPr algn="l" fontAlgn="base"/>
                      <a:r>
                        <a:rPr lang="en-IN">
                          <a:effectLst/>
                        </a:rPr>
                        <a:t>General to specific</a:t>
                      </a:r>
                    </a:p>
                  </a:txBody>
                  <a:tcPr anchor="ctr"/>
                </a:tc>
                <a:tc>
                  <a:txBody>
                    <a:bodyPr/>
                    <a:lstStyle/>
                    <a:p>
                      <a:pPr algn="l" fontAlgn="base"/>
                      <a:r>
                        <a:rPr lang="en-IN">
                          <a:effectLst/>
                        </a:rPr>
                        <a:t>Logical certainty</a:t>
                      </a:r>
                    </a:p>
                  </a:txBody>
                  <a:tcPr anchor="ctr"/>
                </a:tc>
                <a:tc>
                  <a:txBody>
                    <a:bodyPr/>
                    <a:lstStyle/>
                    <a:p>
                      <a:pPr algn="l" fontAlgn="base"/>
                      <a:r>
                        <a:rPr lang="en-IN">
                          <a:effectLst/>
                        </a:rPr>
                        <a:t>Formal proofs, rule-based tasks</a:t>
                      </a:r>
                    </a:p>
                  </a:txBody>
                  <a:tcPr anchor="ctr"/>
                </a:tc>
                <a:extLst>
                  <a:ext uri="{0D108BD9-81ED-4DB2-BD59-A6C34878D82A}">
                    <a16:rowId xmlns:a16="http://schemas.microsoft.com/office/drawing/2014/main" val="1790720106"/>
                  </a:ext>
                </a:extLst>
              </a:tr>
              <a:tr h="549140">
                <a:tc>
                  <a:txBody>
                    <a:bodyPr/>
                    <a:lstStyle/>
                    <a:p>
                      <a:pPr algn="l" fontAlgn="base"/>
                      <a:r>
                        <a:rPr lang="en-IN">
                          <a:effectLst/>
                        </a:rPr>
                        <a:t>Inductive</a:t>
                      </a:r>
                    </a:p>
                  </a:txBody>
                  <a:tcPr anchor="ctr"/>
                </a:tc>
                <a:tc>
                  <a:txBody>
                    <a:bodyPr/>
                    <a:lstStyle/>
                    <a:p>
                      <a:pPr algn="l" fontAlgn="base"/>
                      <a:r>
                        <a:rPr lang="en-IN">
                          <a:effectLst/>
                        </a:rPr>
                        <a:t>Specific to general</a:t>
                      </a:r>
                    </a:p>
                  </a:txBody>
                  <a:tcPr anchor="ctr"/>
                </a:tc>
                <a:tc>
                  <a:txBody>
                    <a:bodyPr/>
                    <a:lstStyle/>
                    <a:p>
                      <a:pPr algn="l" fontAlgn="base"/>
                      <a:r>
                        <a:rPr lang="en-IN">
                          <a:effectLst/>
                        </a:rPr>
                        <a:t>Pattern recognition</a:t>
                      </a:r>
                    </a:p>
                  </a:txBody>
                  <a:tcPr anchor="ctr"/>
                </a:tc>
                <a:tc>
                  <a:txBody>
                    <a:bodyPr/>
                    <a:lstStyle/>
                    <a:p>
                      <a:pPr algn="l" fontAlgn="base"/>
                      <a:r>
                        <a:rPr lang="en-IN">
                          <a:effectLst/>
                        </a:rPr>
                        <a:t>Predictions, generalizations</a:t>
                      </a:r>
                    </a:p>
                  </a:txBody>
                  <a:tcPr anchor="ctr"/>
                </a:tc>
                <a:extLst>
                  <a:ext uri="{0D108BD9-81ED-4DB2-BD59-A6C34878D82A}">
                    <a16:rowId xmlns:a16="http://schemas.microsoft.com/office/drawing/2014/main" val="1605512592"/>
                  </a:ext>
                </a:extLst>
              </a:tr>
              <a:tr h="947831">
                <a:tc>
                  <a:txBody>
                    <a:bodyPr/>
                    <a:lstStyle/>
                    <a:p>
                      <a:pPr algn="l" fontAlgn="base"/>
                      <a:r>
                        <a:rPr lang="en-IN">
                          <a:effectLst/>
                        </a:rPr>
                        <a:t>Abductive</a:t>
                      </a:r>
                    </a:p>
                  </a:txBody>
                  <a:tcPr anchor="ctr"/>
                </a:tc>
                <a:tc>
                  <a:txBody>
                    <a:bodyPr/>
                    <a:lstStyle/>
                    <a:p>
                      <a:pPr algn="l" fontAlgn="base"/>
                      <a:r>
                        <a:rPr lang="en-IN">
                          <a:effectLst/>
                        </a:rPr>
                        <a:t>Best explanation</a:t>
                      </a:r>
                    </a:p>
                  </a:txBody>
                  <a:tcPr anchor="ctr"/>
                </a:tc>
                <a:tc>
                  <a:txBody>
                    <a:bodyPr/>
                    <a:lstStyle/>
                    <a:p>
                      <a:pPr algn="l" fontAlgn="base"/>
                      <a:r>
                        <a:rPr lang="en-IN">
                          <a:effectLst/>
                        </a:rPr>
                        <a:t>Hypothesis generation</a:t>
                      </a:r>
                    </a:p>
                  </a:txBody>
                  <a:tcPr anchor="ctr"/>
                </a:tc>
                <a:tc>
                  <a:txBody>
                    <a:bodyPr/>
                    <a:lstStyle/>
                    <a:p>
                      <a:pPr algn="l" fontAlgn="base"/>
                      <a:r>
                        <a:rPr lang="en-IN">
                          <a:effectLst/>
                        </a:rPr>
                        <a:t>Diagnostics, problem-solving</a:t>
                      </a:r>
                    </a:p>
                  </a:txBody>
                  <a:tcPr anchor="ctr"/>
                </a:tc>
                <a:extLst>
                  <a:ext uri="{0D108BD9-81ED-4DB2-BD59-A6C34878D82A}">
                    <a16:rowId xmlns:a16="http://schemas.microsoft.com/office/drawing/2014/main" val="2338284032"/>
                  </a:ext>
                </a:extLst>
              </a:tr>
              <a:tr h="549140">
                <a:tc>
                  <a:txBody>
                    <a:bodyPr/>
                    <a:lstStyle/>
                    <a:p>
                      <a:pPr algn="l" fontAlgn="base"/>
                      <a:r>
                        <a:rPr lang="en-IN">
                          <a:effectLst/>
                        </a:rPr>
                        <a:t>Analogical</a:t>
                      </a:r>
                    </a:p>
                  </a:txBody>
                  <a:tcPr anchor="ctr"/>
                </a:tc>
                <a:tc>
                  <a:txBody>
                    <a:bodyPr/>
                    <a:lstStyle/>
                    <a:p>
                      <a:pPr algn="l" fontAlgn="base"/>
                      <a:r>
                        <a:rPr lang="en-IN">
                          <a:effectLst/>
                        </a:rPr>
                        <a:t>Similarity-based</a:t>
                      </a:r>
                    </a:p>
                  </a:txBody>
                  <a:tcPr anchor="ctr"/>
                </a:tc>
                <a:tc>
                  <a:txBody>
                    <a:bodyPr/>
                    <a:lstStyle/>
                    <a:p>
                      <a:pPr algn="l" fontAlgn="base"/>
                      <a:r>
                        <a:rPr lang="en-IN">
                          <a:effectLst/>
                        </a:rPr>
                        <a:t>Comparative analysis</a:t>
                      </a:r>
                    </a:p>
                  </a:txBody>
                  <a:tcPr anchor="ctr"/>
                </a:tc>
                <a:tc>
                  <a:txBody>
                    <a:bodyPr/>
                    <a:lstStyle/>
                    <a:p>
                      <a:pPr algn="l" fontAlgn="base"/>
                      <a:r>
                        <a:rPr lang="en-IN">
                          <a:effectLst/>
                        </a:rPr>
                        <a:t>Creative problem-solving</a:t>
                      </a:r>
                    </a:p>
                  </a:txBody>
                  <a:tcPr anchor="ctr"/>
                </a:tc>
                <a:extLst>
                  <a:ext uri="{0D108BD9-81ED-4DB2-BD59-A6C34878D82A}">
                    <a16:rowId xmlns:a16="http://schemas.microsoft.com/office/drawing/2014/main" val="1491652649"/>
                  </a:ext>
                </a:extLst>
              </a:tr>
              <a:tr h="947831">
                <a:tc>
                  <a:txBody>
                    <a:bodyPr/>
                    <a:lstStyle/>
                    <a:p>
                      <a:pPr algn="l" fontAlgn="base"/>
                      <a:r>
                        <a:rPr lang="en-IN">
                          <a:effectLst/>
                        </a:rPr>
                        <a:t>Causal</a:t>
                      </a:r>
                    </a:p>
                  </a:txBody>
                  <a:tcPr anchor="ctr"/>
                </a:tc>
                <a:tc>
                  <a:txBody>
                    <a:bodyPr/>
                    <a:lstStyle/>
                    <a:p>
                      <a:pPr algn="l" fontAlgn="base"/>
                      <a:r>
                        <a:rPr lang="en-IN">
                          <a:effectLst/>
                        </a:rPr>
                        <a:t>Cause-effect relationships</a:t>
                      </a:r>
                    </a:p>
                  </a:txBody>
                  <a:tcPr anchor="ctr"/>
                </a:tc>
                <a:tc>
                  <a:txBody>
                    <a:bodyPr/>
                    <a:lstStyle/>
                    <a:p>
                      <a:pPr algn="l" fontAlgn="base"/>
                      <a:r>
                        <a:rPr lang="en-IN">
                          <a:effectLst/>
                        </a:rPr>
                        <a:t>Causal inference</a:t>
                      </a:r>
                    </a:p>
                  </a:txBody>
                  <a:tcPr anchor="ctr"/>
                </a:tc>
                <a:tc>
                  <a:txBody>
                    <a:bodyPr/>
                    <a:lstStyle/>
                    <a:p>
                      <a:pPr algn="l" fontAlgn="base"/>
                      <a:r>
                        <a:rPr lang="en-IN">
                          <a:effectLst/>
                        </a:rPr>
                        <a:t>Scientific research, predictions</a:t>
                      </a:r>
                    </a:p>
                  </a:txBody>
                  <a:tcPr anchor="ctr"/>
                </a:tc>
                <a:extLst>
                  <a:ext uri="{0D108BD9-81ED-4DB2-BD59-A6C34878D82A}">
                    <a16:rowId xmlns:a16="http://schemas.microsoft.com/office/drawing/2014/main" val="4223104381"/>
                  </a:ext>
                </a:extLst>
              </a:tr>
              <a:tr h="549140">
                <a:tc>
                  <a:txBody>
                    <a:bodyPr/>
                    <a:lstStyle/>
                    <a:p>
                      <a:pPr algn="l" fontAlgn="base"/>
                      <a:r>
                        <a:rPr lang="en-IN">
                          <a:effectLst/>
                        </a:rPr>
                        <a:t>Chain-of-Thought</a:t>
                      </a:r>
                    </a:p>
                  </a:txBody>
                  <a:tcPr anchor="ctr"/>
                </a:tc>
                <a:tc>
                  <a:txBody>
                    <a:bodyPr/>
                    <a:lstStyle/>
                    <a:p>
                      <a:pPr algn="l" fontAlgn="base"/>
                      <a:r>
                        <a:rPr lang="en-IN">
                          <a:effectLst/>
                        </a:rPr>
                        <a:t>Step-by-step reasoning</a:t>
                      </a:r>
                    </a:p>
                  </a:txBody>
                  <a:tcPr anchor="ctr"/>
                </a:tc>
                <a:tc>
                  <a:txBody>
                    <a:bodyPr/>
                    <a:lstStyle/>
                    <a:p>
                      <a:pPr algn="l" fontAlgn="base"/>
                      <a:r>
                        <a:rPr lang="en-IN">
                          <a:effectLst/>
                        </a:rPr>
                        <a:t>Sequential processing</a:t>
                      </a:r>
                    </a:p>
                  </a:txBody>
                  <a:tcPr anchor="ctr"/>
                </a:tc>
                <a:tc>
                  <a:txBody>
                    <a:bodyPr/>
                    <a:lstStyle/>
                    <a:p>
                      <a:pPr algn="l" fontAlgn="base"/>
                      <a:r>
                        <a:rPr lang="en-IN">
                          <a:effectLst/>
                        </a:rPr>
                        <a:t>Complex problem-solving</a:t>
                      </a:r>
                    </a:p>
                  </a:txBody>
                  <a:tcPr anchor="ctr"/>
                </a:tc>
                <a:extLst>
                  <a:ext uri="{0D108BD9-81ED-4DB2-BD59-A6C34878D82A}">
                    <a16:rowId xmlns:a16="http://schemas.microsoft.com/office/drawing/2014/main" val="1568688347"/>
                  </a:ext>
                </a:extLst>
              </a:tr>
              <a:tr h="549140">
                <a:tc>
                  <a:txBody>
                    <a:bodyPr/>
                    <a:lstStyle/>
                    <a:p>
                      <a:pPr algn="l" fontAlgn="base"/>
                      <a:r>
                        <a:rPr lang="en-IN">
                          <a:effectLst/>
                        </a:rPr>
                        <a:t>Tree-of-Thought</a:t>
                      </a:r>
                    </a:p>
                  </a:txBody>
                  <a:tcPr anchor="ctr"/>
                </a:tc>
                <a:tc>
                  <a:txBody>
                    <a:bodyPr/>
                    <a:lstStyle/>
                    <a:p>
                      <a:pPr algn="l" fontAlgn="base"/>
                      <a:r>
                        <a:rPr lang="en-IN">
                          <a:effectLst/>
                        </a:rPr>
                        <a:t>Hierarchical exploration</a:t>
                      </a:r>
                    </a:p>
                  </a:txBody>
                  <a:tcPr anchor="ctr"/>
                </a:tc>
                <a:tc>
                  <a:txBody>
                    <a:bodyPr/>
                    <a:lstStyle/>
                    <a:p>
                      <a:pPr algn="l" fontAlgn="base"/>
                      <a:r>
                        <a:rPr lang="en-IN">
                          <a:effectLst/>
                        </a:rPr>
                        <a:t>Branching logic</a:t>
                      </a:r>
                    </a:p>
                  </a:txBody>
                  <a:tcPr anchor="ctr"/>
                </a:tc>
                <a:tc>
                  <a:txBody>
                    <a:bodyPr/>
                    <a:lstStyle/>
                    <a:p>
                      <a:pPr algn="l" fontAlgn="base"/>
                      <a:r>
                        <a:rPr lang="en-IN">
                          <a:effectLst/>
                        </a:rPr>
                        <a:t>Decision-making</a:t>
                      </a:r>
                    </a:p>
                  </a:txBody>
                  <a:tcPr anchor="ctr"/>
                </a:tc>
                <a:extLst>
                  <a:ext uri="{0D108BD9-81ED-4DB2-BD59-A6C34878D82A}">
                    <a16:rowId xmlns:a16="http://schemas.microsoft.com/office/drawing/2014/main" val="65878757"/>
                  </a:ext>
                </a:extLst>
              </a:tr>
              <a:tr h="549140">
                <a:tc>
                  <a:txBody>
                    <a:bodyPr/>
                    <a:lstStyle/>
                    <a:p>
                      <a:pPr algn="l" fontAlgn="base"/>
                      <a:r>
                        <a:rPr lang="en-IN">
                          <a:effectLst/>
                        </a:rPr>
                        <a:t>Graph-based</a:t>
                      </a:r>
                    </a:p>
                  </a:txBody>
                  <a:tcPr anchor="ctr"/>
                </a:tc>
                <a:tc>
                  <a:txBody>
                    <a:bodyPr/>
                    <a:lstStyle/>
                    <a:p>
                      <a:pPr algn="l" fontAlgn="base"/>
                      <a:r>
                        <a:rPr lang="en-IN">
                          <a:effectLst/>
                        </a:rPr>
                        <a:t>Relationship mapping</a:t>
                      </a:r>
                    </a:p>
                  </a:txBody>
                  <a:tcPr anchor="ctr"/>
                </a:tc>
                <a:tc>
                  <a:txBody>
                    <a:bodyPr/>
                    <a:lstStyle/>
                    <a:p>
                      <a:pPr algn="l" fontAlgn="base"/>
                      <a:r>
                        <a:rPr lang="en-IN">
                          <a:effectLst/>
                        </a:rPr>
                        <a:t>Network analysis</a:t>
                      </a:r>
                    </a:p>
                  </a:txBody>
                  <a:tcPr anchor="ctr"/>
                </a:tc>
                <a:tc>
                  <a:txBody>
                    <a:bodyPr/>
                    <a:lstStyle/>
                    <a:p>
                      <a:pPr algn="l" fontAlgn="base"/>
                      <a:r>
                        <a:rPr lang="en-IN" dirty="0">
                          <a:effectLst/>
                        </a:rPr>
                        <a:t>Knowledge representation</a:t>
                      </a:r>
                    </a:p>
                  </a:txBody>
                  <a:tcPr anchor="ctr"/>
                </a:tc>
                <a:extLst>
                  <a:ext uri="{0D108BD9-81ED-4DB2-BD59-A6C34878D82A}">
                    <a16:rowId xmlns:a16="http://schemas.microsoft.com/office/drawing/2014/main" val="3235812046"/>
                  </a:ext>
                </a:extLst>
              </a:tr>
            </a:tbl>
          </a:graphicData>
        </a:graphic>
      </p:graphicFrame>
    </p:spTree>
    <p:extLst>
      <p:ext uri="{BB962C8B-B14F-4D97-AF65-F5344CB8AC3E}">
        <p14:creationId xmlns:p14="http://schemas.microsoft.com/office/powerpoint/2010/main" val="706655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6359-B424-E655-7D28-105100640C6B}"/>
              </a:ext>
            </a:extLst>
          </p:cNvPr>
          <p:cNvSpPr>
            <a:spLocks noGrp="1"/>
          </p:cNvSpPr>
          <p:nvPr>
            <p:ph type="title"/>
          </p:nvPr>
        </p:nvSpPr>
        <p:spPr>
          <a:xfrm>
            <a:off x="838200" y="-371959"/>
            <a:ext cx="10515600" cy="2062647"/>
          </a:xfrm>
        </p:spPr>
        <p:txBody>
          <a:bodyPr/>
          <a:lstStyle/>
          <a:p>
            <a:r>
              <a:rPr lang="en-US" sz="3600" dirty="0"/>
              <a:t>                           Strength and Weaknesses</a:t>
            </a:r>
            <a:br>
              <a:rPr lang="en-US" dirty="0"/>
            </a:br>
            <a:endParaRPr lang="en-IN" dirty="0"/>
          </a:p>
        </p:txBody>
      </p:sp>
      <p:graphicFrame>
        <p:nvGraphicFramePr>
          <p:cNvPr id="3" name="Table 2">
            <a:extLst>
              <a:ext uri="{FF2B5EF4-FFF2-40B4-BE49-F238E27FC236}">
                <a16:creationId xmlns:a16="http://schemas.microsoft.com/office/drawing/2014/main" id="{7A3E7D87-75E5-5FA3-B837-4DA06837F8A9}"/>
              </a:ext>
            </a:extLst>
          </p:cNvPr>
          <p:cNvGraphicFramePr>
            <a:graphicFrameLocks noGrp="1"/>
          </p:cNvGraphicFramePr>
          <p:nvPr>
            <p:extLst>
              <p:ext uri="{D42A27DB-BD31-4B8C-83A1-F6EECF244321}">
                <p14:modId xmlns:p14="http://schemas.microsoft.com/office/powerpoint/2010/main" val="2241205617"/>
              </p:ext>
            </p:extLst>
          </p:nvPr>
        </p:nvGraphicFramePr>
        <p:xfrm>
          <a:off x="0" y="719666"/>
          <a:ext cx="12192000" cy="613833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0808448"/>
                    </a:ext>
                  </a:extLst>
                </a:gridCol>
                <a:gridCol w="4064000">
                  <a:extLst>
                    <a:ext uri="{9D8B030D-6E8A-4147-A177-3AD203B41FA5}">
                      <a16:colId xmlns:a16="http://schemas.microsoft.com/office/drawing/2014/main" val="2412351562"/>
                    </a:ext>
                  </a:extLst>
                </a:gridCol>
                <a:gridCol w="4064000">
                  <a:extLst>
                    <a:ext uri="{9D8B030D-6E8A-4147-A177-3AD203B41FA5}">
                      <a16:colId xmlns:a16="http://schemas.microsoft.com/office/drawing/2014/main" val="3577318912"/>
                    </a:ext>
                  </a:extLst>
                </a:gridCol>
              </a:tblGrid>
              <a:tr h="752364">
                <a:tc>
                  <a:txBody>
                    <a:bodyPr/>
                    <a:lstStyle/>
                    <a:p>
                      <a:pPr algn="l" fontAlgn="base"/>
                      <a:r>
                        <a:rPr lang="en-IN" dirty="0">
                          <a:effectLst/>
                        </a:rPr>
                        <a:t>Deductive</a:t>
                      </a:r>
                    </a:p>
                  </a:txBody>
                  <a:tcPr anchor="ctr"/>
                </a:tc>
                <a:tc>
                  <a:txBody>
                    <a:bodyPr/>
                    <a:lstStyle/>
                    <a:p>
                      <a:pPr algn="l" fontAlgn="base"/>
                      <a:r>
                        <a:rPr lang="en-IN">
                          <a:effectLst/>
                        </a:rPr>
                        <a:t>High accuracy, clear conclusions</a:t>
                      </a:r>
                    </a:p>
                  </a:txBody>
                  <a:tcPr anchor="ctr"/>
                </a:tc>
                <a:tc>
                  <a:txBody>
                    <a:bodyPr/>
                    <a:lstStyle/>
                    <a:p>
                      <a:pPr algn="l" fontAlgn="base"/>
                      <a:r>
                        <a:rPr lang="en-IN">
                          <a:effectLst/>
                        </a:rPr>
                        <a:t>Limited to valid premises</a:t>
                      </a:r>
                    </a:p>
                  </a:txBody>
                  <a:tcPr anchor="ctr"/>
                </a:tc>
                <a:extLst>
                  <a:ext uri="{0D108BD9-81ED-4DB2-BD59-A6C34878D82A}">
                    <a16:rowId xmlns:a16="http://schemas.microsoft.com/office/drawing/2014/main" val="1424652731"/>
                  </a:ext>
                </a:extLst>
              </a:tr>
              <a:tr h="435893">
                <a:tc>
                  <a:txBody>
                    <a:bodyPr/>
                    <a:lstStyle/>
                    <a:p>
                      <a:pPr algn="l" fontAlgn="base"/>
                      <a:r>
                        <a:rPr lang="en-IN">
                          <a:effectLst/>
                        </a:rPr>
                        <a:t>Inductive</a:t>
                      </a:r>
                    </a:p>
                  </a:txBody>
                  <a:tcPr anchor="ctr"/>
                </a:tc>
                <a:tc>
                  <a:txBody>
                    <a:bodyPr/>
                    <a:lstStyle/>
                    <a:p>
                      <a:pPr algn="l" fontAlgn="base"/>
                      <a:r>
                        <a:rPr lang="en-IN">
                          <a:effectLst/>
                        </a:rPr>
                        <a:t>Flexible, adaptable</a:t>
                      </a:r>
                    </a:p>
                  </a:txBody>
                  <a:tcPr anchor="ctr"/>
                </a:tc>
                <a:tc>
                  <a:txBody>
                    <a:bodyPr/>
                    <a:lstStyle/>
                    <a:p>
                      <a:pPr algn="l" fontAlgn="base"/>
                      <a:r>
                        <a:rPr lang="en-IN">
                          <a:effectLst/>
                        </a:rPr>
                        <a:t>Risk of overgeneralization</a:t>
                      </a:r>
                    </a:p>
                  </a:txBody>
                  <a:tcPr anchor="ctr"/>
                </a:tc>
                <a:extLst>
                  <a:ext uri="{0D108BD9-81ED-4DB2-BD59-A6C34878D82A}">
                    <a16:rowId xmlns:a16="http://schemas.microsoft.com/office/drawing/2014/main" val="3465410054"/>
                  </a:ext>
                </a:extLst>
              </a:tr>
              <a:tr h="752364">
                <a:tc>
                  <a:txBody>
                    <a:bodyPr/>
                    <a:lstStyle/>
                    <a:p>
                      <a:pPr algn="l" fontAlgn="base"/>
                      <a:r>
                        <a:rPr lang="en-IN">
                          <a:effectLst/>
                        </a:rPr>
                        <a:t>Abductive</a:t>
                      </a:r>
                    </a:p>
                  </a:txBody>
                  <a:tcPr anchor="ctr"/>
                </a:tc>
                <a:tc>
                  <a:txBody>
                    <a:bodyPr/>
                    <a:lstStyle/>
                    <a:p>
                      <a:pPr algn="l" fontAlgn="base"/>
                      <a:r>
                        <a:rPr lang="en-IN">
                          <a:effectLst/>
                        </a:rPr>
                        <a:t>Useful for incomplete information</a:t>
                      </a:r>
                    </a:p>
                  </a:txBody>
                  <a:tcPr anchor="ctr"/>
                </a:tc>
                <a:tc>
                  <a:txBody>
                    <a:bodyPr/>
                    <a:lstStyle/>
                    <a:p>
                      <a:pPr algn="l" fontAlgn="base"/>
                      <a:r>
                        <a:rPr lang="en-US">
                          <a:effectLst/>
                        </a:rPr>
                        <a:t>May lead to incorrect conclusions</a:t>
                      </a:r>
                    </a:p>
                  </a:txBody>
                  <a:tcPr anchor="ctr"/>
                </a:tc>
                <a:extLst>
                  <a:ext uri="{0D108BD9-81ED-4DB2-BD59-A6C34878D82A}">
                    <a16:rowId xmlns:a16="http://schemas.microsoft.com/office/drawing/2014/main" val="1812253995"/>
                  </a:ext>
                </a:extLst>
              </a:tr>
              <a:tr h="752364">
                <a:tc>
                  <a:txBody>
                    <a:bodyPr/>
                    <a:lstStyle/>
                    <a:p>
                      <a:pPr algn="l" fontAlgn="base"/>
                      <a:r>
                        <a:rPr lang="en-IN">
                          <a:effectLst/>
                        </a:rPr>
                        <a:t>Analogical</a:t>
                      </a:r>
                    </a:p>
                  </a:txBody>
                  <a:tcPr anchor="ctr"/>
                </a:tc>
                <a:tc>
                  <a:txBody>
                    <a:bodyPr/>
                    <a:lstStyle/>
                    <a:p>
                      <a:pPr algn="l" fontAlgn="base"/>
                      <a:r>
                        <a:rPr lang="en-IN">
                          <a:effectLst/>
                        </a:rPr>
                        <a:t>Encourages creativity</a:t>
                      </a:r>
                    </a:p>
                  </a:txBody>
                  <a:tcPr anchor="ctr"/>
                </a:tc>
                <a:tc>
                  <a:txBody>
                    <a:bodyPr/>
                    <a:lstStyle/>
                    <a:p>
                      <a:pPr algn="l" fontAlgn="base"/>
                      <a:r>
                        <a:rPr lang="en-US">
                          <a:effectLst/>
                        </a:rPr>
                        <a:t>Relies on the quality of analogies</a:t>
                      </a:r>
                    </a:p>
                  </a:txBody>
                  <a:tcPr anchor="ctr"/>
                </a:tc>
                <a:extLst>
                  <a:ext uri="{0D108BD9-81ED-4DB2-BD59-A6C34878D82A}">
                    <a16:rowId xmlns:a16="http://schemas.microsoft.com/office/drawing/2014/main" val="3775981446"/>
                  </a:ext>
                </a:extLst>
              </a:tr>
              <a:tr h="752364">
                <a:tc>
                  <a:txBody>
                    <a:bodyPr/>
                    <a:lstStyle/>
                    <a:p>
                      <a:pPr algn="l" fontAlgn="base"/>
                      <a:r>
                        <a:rPr lang="en-IN">
                          <a:effectLst/>
                        </a:rPr>
                        <a:t>Causal</a:t>
                      </a:r>
                    </a:p>
                  </a:txBody>
                  <a:tcPr anchor="ctr"/>
                </a:tc>
                <a:tc>
                  <a:txBody>
                    <a:bodyPr/>
                    <a:lstStyle/>
                    <a:p>
                      <a:pPr algn="l" fontAlgn="base"/>
                      <a:r>
                        <a:rPr lang="en-IN">
                          <a:effectLst/>
                        </a:rPr>
                        <a:t>Strong explanatory power</a:t>
                      </a:r>
                    </a:p>
                  </a:txBody>
                  <a:tcPr anchor="ctr"/>
                </a:tc>
                <a:tc>
                  <a:txBody>
                    <a:bodyPr/>
                    <a:lstStyle/>
                    <a:p>
                      <a:pPr algn="l" fontAlgn="base"/>
                      <a:r>
                        <a:rPr lang="en-IN">
                          <a:effectLst/>
                        </a:rPr>
                        <a:t>Complexity in establishing causation</a:t>
                      </a:r>
                    </a:p>
                  </a:txBody>
                  <a:tcPr anchor="ctr"/>
                </a:tc>
                <a:extLst>
                  <a:ext uri="{0D108BD9-81ED-4DB2-BD59-A6C34878D82A}">
                    <a16:rowId xmlns:a16="http://schemas.microsoft.com/office/drawing/2014/main" val="702294534"/>
                  </a:ext>
                </a:extLst>
              </a:tr>
              <a:tr h="752364">
                <a:tc>
                  <a:txBody>
                    <a:bodyPr/>
                    <a:lstStyle/>
                    <a:p>
                      <a:pPr algn="l" fontAlgn="base"/>
                      <a:r>
                        <a:rPr lang="en-IN">
                          <a:effectLst/>
                        </a:rPr>
                        <a:t>Chain-of-Thought</a:t>
                      </a:r>
                    </a:p>
                  </a:txBody>
                  <a:tcPr anchor="ctr"/>
                </a:tc>
                <a:tc>
                  <a:txBody>
                    <a:bodyPr/>
                    <a:lstStyle/>
                    <a:p>
                      <a:pPr algn="l" fontAlgn="base"/>
                      <a:r>
                        <a:rPr lang="en-IN">
                          <a:effectLst/>
                        </a:rPr>
                        <a:t>Enhances transparency</a:t>
                      </a:r>
                    </a:p>
                  </a:txBody>
                  <a:tcPr anchor="ctr"/>
                </a:tc>
                <a:tc>
                  <a:txBody>
                    <a:bodyPr/>
                    <a:lstStyle/>
                    <a:p>
                      <a:pPr algn="l" fontAlgn="base"/>
                      <a:r>
                        <a:rPr lang="en-IN">
                          <a:effectLst/>
                        </a:rPr>
                        <a:t>Can be computationally intensive</a:t>
                      </a:r>
                    </a:p>
                  </a:txBody>
                  <a:tcPr anchor="ctr"/>
                </a:tc>
                <a:extLst>
                  <a:ext uri="{0D108BD9-81ED-4DB2-BD59-A6C34878D82A}">
                    <a16:rowId xmlns:a16="http://schemas.microsoft.com/office/drawing/2014/main" val="3647936793"/>
                  </a:ext>
                </a:extLst>
              </a:tr>
              <a:tr h="752364">
                <a:tc>
                  <a:txBody>
                    <a:bodyPr/>
                    <a:lstStyle/>
                    <a:p>
                      <a:pPr algn="l" fontAlgn="base"/>
                      <a:r>
                        <a:rPr lang="en-IN">
                          <a:effectLst/>
                        </a:rPr>
                        <a:t>Tree-of-Thought</a:t>
                      </a:r>
                    </a:p>
                  </a:txBody>
                  <a:tcPr anchor="ctr"/>
                </a:tc>
                <a:tc>
                  <a:txBody>
                    <a:bodyPr/>
                    <a:lstStyle/>
                    <a:p>
                      <a:pPr algn="l" fontAlgn="base"/>
                      <a:r>
                        <a:rPr lang="en-IN">
                          <a:effectLst/>
                        </a:rPr>
                        <a:t>Comprehensive exploration</a:t>
                      </a:r>
                    </a:p>
                  </a:txBody>
                  <a:tcPr anchor="ctr"/>
                </a:tc>
                <a:tc>
                  <a:txBody>
                    <a:bodyPr/>
                    <a:lstStyle/>
                    <a:p>
                      <a:pPr algn="l" fontAlgn="base"/>
                      <a:r>
                        <a:rPr lang="en-IN">
                          <a:effectLst/>
                        </a:rPr>
                        <a:t>Complexity in managing branches</a:t>
                      </a:r>
                    </a:p>
                  </a:txBody>
                  <a:tcPr anchor="ctr"/>
                </a:tc>
                <a:extLst>
                  <a:ext uri="{0D108BD9-81ED-4DB2-BD59-A6C34878D82A}">
                    <a16:rowId xmlns:a16="http://schemas.microsoft.com/office/drawing/2014/main" val="1126128972"/>
                  </a:ext>
                </a:extLst>
              </a:tr>
              <a:tr h="752364">
                <a:tc>
                  <a:txBody>
                    <a:bodyPr/>
                    <a:lstStyle/>
                    <a:p>
                      <a:pPr algn="l" fontAlgn="base"/>
                      <a:r>
                        <a:rPr lang="en-IN">
                          <a:effectLst/>
                        </a:rPr>
                        <a:t>Graph-based</a:t>
                      </a:r>
                    </a:p>
                  </a:txBody>
                  <a:tcPr anchor="ctr"/>
                </a:tc>
                <a:tc>
                  <a:txBody>
                    <a:bodyPr/>
                    <a:lstStyle/>
                    <a:p>
                      <a:pPr algn="l" fontAlgn="base"/>
                      <a:r>
                        <a:rPr lang="en-IN">
                          <a:effectLst/>
                        </a:rPr>
                        <a:t>Rich representation of knowledge</a:t>
                      </a:r>
                    </a:p>
                  </a:txBody>
                  <a:tcPr anchor="ctr"/>
                </a:tc>
                <a:tc>
                  <a:txBody>
                    <a:bodyPr/>
                    <a:lstStyle/>
                    <a:p>
                      <a:pPr algn="l" fontAlgn="base"/>
                      <a:r>
                        <a:rPr lang="en-IN" dirty="0">
                          <a:effectLst/>
                        </a:rPr>
                        <a:t>Requires extensive data</a:t>
                      </a:r>
                    </a:p>
                  </a:txBody>
                  <a:tcPr anchor="ctr"/>
                </a:tc>
                <a:extLst>
                  <a:ext uri="{0D108BD9-81ED-4DB2-BD59-A6C34878D82A}">
                    <a16:rowId xmlns:a16="http://schemas.microsoft.com/office/drawing/2014/main" val="2158554050"/>
                  </a:ext>
                </a:extLst>
              </a:tr>
              <a:tr h="435893">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83634849"/>
                  </a:ext>
                </a:extLst>
              </a:tr>
            </a:tbl>
          </a:graphicData>
        </a:graphic>
      </p:graphicFrame>
    </p:spTree>
    <p:extLst>
      <p:ext uri="{BB962C8B-B14F-4D97-AF65-F5344CB8AC3E}">
        <p14:creationId xmlns:p14="http://schemas.microsoft.com/office/powerpoint/2010/main" val="2875822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BF34B4-9C0F-E34B-1D9D-A4BD63B2CF78}"/>
              </a:ext>
            </a:extLst>
          </p:cNvPr>
          <p:cNvSpPr txBox="1"/>
          <p:nvPr/>
        </p:nvSpPr>
        <p:spPr>
          <a:xfrm>
            <a:off x="1921790" y="650929"/>
            <a:ext cx="7733654" cy="4462760"/>
          </a:xfrm>
          <a:prstGeom prst="rect">
            <a:avLst/>
          </a:prstGeom>
          <a:noFill/>
        </p:spPr>
        <p:txBody>
          <a:bodyPr wrap="square">
            <a:spAutoFit/>
          </a:bodyPr>
          <a:lstStyle/>
          <a:p>
            <a:pPr algn="l">
              <a:buNone/>
            </a:pPr>
            <a:r>
              <a:rPr lang="en-US" sz="3200" b="1" i="0" dirty="0">
                <a:solidFill>
                  <a:srgbClr val="111827"/>
                </a:solidFill>
                <a:effectLst/>
                <a:latin typeface="ProximaVara-Roman"/>
              </a:rPr>
              <a:t>Conclusion</a:t>
            </a:r>
          </a:p>
          <a:p>
            <a:pPr algn="l"/>
            <a:r>
              <a:rPr lang="en-US" sz="2800" b="0" i="0" dirty="0">
                <a:solidFill>
                  <a:srgbClr val="000000"/>
                </a:solidFill>
                <a:effectLst/>
                <a:latin typeface="ProximaVara-Roman"/>
              </a:rPr>
              <a:t>This report highlights the diverse reasoning approaches employed in modern AI models, each with unique strengths and weaknesses. Understanding these approaches is vital for developing AI systems that are not only effective but also safe and trustworthy. As AI continues to evolve, further research into these reasoning frameworks will be essential for ensuring alignment with human values and addressing potential risks.</a:t>
            </a:r>
          </a:p>
        </p:txBody>
      </p:sp>
    </p:spTree>
    <p:extLst>
      <p:ext uri="{BB962C8B-B14F-4D97-AF65-F5344CB8AC3E}">
        <p14:creationId xmlns:p14="http://schemas.microsoft.com/office/powerpoint/2010/main" val="250426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9F12-451F-7F4D-276A-D094655A2B2E}"/>
              </a:ext>
            </a:extLst>
          </p:cNvPr>
          <p:cNvSpPr>
            <a:spLocks noGrp="1"/>
          </p:cNvSpPr>
          <p:nvPr>
            <p:ph type="title"/>
          </p:nvPr>
        </p:nvSpPr>
        <p:spPr>
          <a:xfrm>
            <a:off x="1109272" y="1109273"/>
            <a:ext cx="8994099" cy="3282845"/>
          </a:xfrm>
        </p:spPr>
        <p:txBody>
          <a:bodyPr>
            <a:normAutofit fontScale="90000"/>
          </a:bodyPr>
          <a:lstStyle/>
          <a:p>
            <a:pPr algn="l">
              <a:buFont typeface="Arial" panose="020B0604020202020204" pitchFamily="34" charset="0"/>
              <a:buChar char="•"/>
            </a:pPr>
            <a:r>
              <a:rPr lang="en-US" sz="3200" b="1" dirty="0"/>
              <a:t>References</a:t>
            </a:r>
            <a:br>
              <a:rPr lang="en-US" sz="3200" b="1" dirty="0"/>
            </a:br>
            <a:r>
              <a:rPr lang="en-US" sz="1800" b="0" i="0" dirty="0">
                <a:solidFill>
                  <a:srgbClr val="000000"/>
                </a:solidFill>
                <a:effectLst/>
                <a:latin typeface="ProximaVara-Roman"/>
              </a:rPr>
              <a:t>Russell, B., &amp; Norvig, P. (2010). </a:t>
            </a:r>
            <a:r>
              <a:rPr lang="en-US" sz="1800" b="0" i="1" dirty="0">
                <a:solidFill>
                  <a:srgbClr val="000000"/>
                </a:solidFill>
                <a:effectLst/>
                <a:latin typeface="ProximaVara-Roman"/>
              </a:rPr>
              <a:t>Artificial Intelligence: A Modern Approach</a:t>
            </a:r>
            <a:r>
              <a:rPr lang="en-US" sz="1800" b="0" i="0" dirty="0">
                <a:solidFill>
                  <a:srgbClr val="000000"/>
                </a:solidFill>
                <a:effectLst/>
                <a:latin typeface="ProximaVara-Roman"/>
              </a:rPr>
              <a:t>. Prentice Hall.</a:t>
            </a:r>
            <a:br>
              <a:rPr lang="en-US" sz="1800" b="0" i="0" dirty="0">
                <a:solidFill>
                  <a:srgbClr val="000000"/>
                </a:solidFill>
                <a:effectLst/>
                <a:latin typeface="ProximaVara-Roman"/>
              </a:rPr>
            </a:br>
            <a:r>
              <a:rPr lang="en-US" sz="1800" b="0" i="0" dirty="0" err="1">
                <a:solidFill>
                  <a:srgbClr val="000000"/>
                </a:solidFill>
                <a:effectLst/>
                <a:latin typeface="ProximaVara-Roman"/>
              </a:rPr>
              <a:t>Copi</a:t>
            </a:r>
            <a:r>
              <a:rPr lang="en-US" sz="1200" b="0" i="0" dirty="0">
                <a:solidFill>
                  <a:srgbClr val="000000"/>
                </a:solidFill>
                <a:effectLst/>
                <a:latin typeface="ProximaVara-Roman"/>
              </a:rPr>
              <a:t>, </a:t>
            </a:r>
            <a:r>
              <a:rPr lang="en-US" sz="1800" b="0" i="0" dirty="0">
                <a:solidFill>
                  <a:srgbClr val="000000"/>
                </a:solidFill>
                <a:effectLst/>
                <a:latin typeface="ProximaVara-Roman"/>
              </a:rPr>
              <a:t>I. M., &amp; Cohen, C. (2011). </a:t>
            </a:r>
            <a:r>
              <a:rPr lang="en-US" sz="1800" b="0" i="1" dirty="0">
                <a:solidFill>
                  <a:srgbClr val="000000"/>
                </a:solidFill>
                <a:effectLst/>
                <a:latin typeface="ProximaVara-Roman"/>
              </a:rPr>
              <a:t>Introduction to Logic</a:t>
            </a:r>
            <a:r>
              <a:rPr lang="en-US" sz="1800" b="0" i="0" dirty="0">
                <a:solidFill>
                  <a:srgbClr val="000000"/>
                </a:solidFill>
                <a:effectLst/>
                <a:latin typeface="ProximaVara-Roman"/>
              </a:rPr>
              <a:t>. Pearson.</a:t>
            </a:r>
            <a:br>
              <a:rPr lang="en-US" sz="1800" b="0" i="0" dirty="0">
                <a:solidFill>
                  <a:srgbClr val="000000"/>
                </a:solidFill>
                <a:effectLst/>
                <a:latin typeface="ProximaVara-Roman"/>
              </a:rPr>
            </a:br>
            <a:r>
              <a:rPr lang="en-US" sz="1800" b="0" i="0" dirty="0">
                <a:solidFill>
                  <a:srgbClr val="000000"/>
                </a:solidFill>
                <a:effectLst/>
                <a:latin typeface="ProximaVara-Roman"/>
              </a:rPr>
              <a:t>Hume, D. (1748). </a:t>
            </a:r>
            <a:r>
              <a:rPr lang="en-US" sz="1800" b="0" i="1" dirty="0">
                <a:solidFill>
                  <a:srgbClr val="000000"/>
                </a:solidFill>
                <a:effectLst/>
                <a:latin typeface="ProximaVara-Roman"/>
              </a:rPr>
              <a:t>An Enquiry Concerning Human Understanding</a:t>
            </a:r>
            <a:r>
              <a:rPr lang="en-US" sz="1800" b="0" i="0" dirty="0">
                <a:solidFill>
                  <a:srgbClr val="000000"/>
                </a:solidFill>
                <a:effectLst/>
                <a:latin typeface="ProximaVara-Roman"/>
              </a:rPr>
              <a:t>.</a:t>
            </a:r>
            <a:br>
              <a:rPr lang="en-US" sz="1800" b="0" i="0" dirty="0">
                <a:solidFill>
                  <a:srgbClr val="000000"/>
                </a:solidFill>
                <a:effectLst/>
                <a:latin typeface="ProximaVara-Roman"/>
              </a:rPr>
            </a:br>
            <a:r>
              <a:rPr lang="en-US" sz="1800" b="0" i="0" dirty="0">
                <a:solidFill>
                  <a:srgbClr val="000000"/>
                </a:solidFill>
                <a:effectLst/>
                <a:latin typeface="ProximaVara-Roman"/>
              </a:rPr>
              <a:t>Goodman, N. (1955). </a:t>
            </a:r>
            <a:r>
              <a:rPr lang="en-US" sz="1800" b="0" i="1" dirty="0">
                <a:solidFill>
                  <a:srgbClr val="000000"/>
                </a:solidFill>
                <a:effectLst/>
                <a:latin typeface="ProximaVara-Roman"/>
              </a:rPr>
              <a:t>Fact, Fiction, and Forecast</a:t>
            </a:r>
            <a:r>
              <a:rPr lang="en-US" sz="1800" b="0" i="0" dirty="0">
                <a:solidFill>
                  <a:srgbClr val="000000"/>
                </a:solidFill>
                <a:effectLst/>
                <a:latin typeface="ProximaVara-Roman"/>
              </a:rPr>
              <a:t>. Harvard University Press.</a:t>
            </a:r>
            <a:br>
              <a:rPr lang="en-US" sz="1800" b="0" i="0" dirty="0">
                <a:solidFill>
                  <a:srgbClr val="000000"/>
                </a:solidFill>
                <a:effectLst/>
                <a:latin typeface="ProximaVara-Roman"/>
              </a:rPr>
            </a:br>
            <a:r>
              <a:rPr lang="en-US" sz="1800" b="0" i="0" dirty="0">
                <a:solidFill>
                  <a:srgbClr val="000000"/>
                </a:solidFill>
                <a:effectLst/>
                <a:latin typeface="ProximaVara-Roman"/>
              </a:rPr>
              <a:t>Peirce, C. S. (1903). </a:t>
            </a:r>
            <a:r>
              <a:rPr lang="en-US" sz="1800" b="0" i="1" dirty="0">
                <a:solidFill>
                  <a:srgbClr val="000000"/>
                </a:solidFill>
                <a:effectLst/>
                <a:latin typeface="ProximaVara-Roman"/>
              </a:rPr>
              <a:t>Pragmatism as a Principle and Method of Right Thinking</a:t>
            </a:r>
            <a:r>
              <a:rPr lang="en-US" sz="1800" b="0" i="0" dirty="0">
                <a:solidFill>
                  <a:srgbClr val="000000"/>
                </a:solidFill>
                <a:effectLst/>
                <a:latin typeface="ProximaVara-Roman"/>
              </a:rPr>
              <a:t>.</a:t>
            </a:r>
            <a:br>
              <a:rPr lang="en-US" sz="1800" b="0" i="0" dirty="0">
                <a:solidFill>
                  <a:srgbClr val="000000"/>
                </a:solidFill>
                <a:effectLst/>
                <a:latin typeface="ProximaVara-Roman"/>
              </a:rPr>
            </a:br>
            <a:r>
              <a:rPr lang="en-US" sz="1800" b="0" i="0" dirty="0">
                <a:solidFill>
                  <a:srgbClr val="000000"/>
                </a:solidFill>
                <a:effectLst/>
                <a:latin typeface="ProximaVara-Roman"/>
              </a:rPr>
              <a:t>Lipton, P. (2004). </a:t>
            </a:r>
            <a:r>
              <a:rPr lang="en-US" sz="1800" b="0" i="1" dirty="0">
                <a:solidFill>
                  <a:srgbClr val="000000"/>
                </a:solidFill>
                <a:effectLst/>
                <a:latin typeface="ProximaVara-Roman"/>
              </a:rPr>
              <a:t>Inference to the Best Explanation</a:t>
            </a:r>
            <a:r>
              <a:rPr lang="en-US" sz="1800" b="0" i="0" dirty="0">
                <a:solidFill>
                  <a:srgbClr val="000000"/>
                </a:solidFill>
                <a:effectLst/>
                <a:latin typeface="ProximaVara-Roman"/>
              </a:rPr>
              <a:t>. Routledge.</a:t>
            </a:r>
            <a:br>
              <a:rPr lang="en-US" sz="1800" b="0" i="0" dirty="0">
                <a:solidFill>
                  <a:srgbClr val="000000"/>
                </a:solidFill>
                <a:effectLst/>
                <a:latin typeface="ProximaVara-Roman"/>
              </a:rPr>
            </a:br>
            <a:r>
              <a:rPr lang="en-US" sz="1800" b="0" i="0" dirty="0">
                <a:solidFill>
                  <a:srgbClr val="000000"/>
                </a:solidFill>
                <a:effectLst/>
                <a:latin typeface="ProximaVara-Roman"/>
              </a:rPr>
              <a:t>Gentner, D. (1983). </a:t>
            </a:r>
            <a:r>
              <a:rPr lang="en-US" sz="1800" b="0" i="1" dirty="0">
                <a:solidFill>
                  <a:srgbClr val="000000"/>
                </a:solidFill>
                <a:effectLst/>
                <a:latin typeface="ProximaVara-Roman"/>
              </a:rPr>
              <a:t>Structure-mapping: A theoretical framework for analogy</a:t>
            </a:r>
            <a:r>
              <a:rPr lang="en-US" sz="1800" b="0" i="0" dirty="0">
                <a:solidFill>
                  <a:srgbClr val="000000"/>
                </a:solidFill>
                <a:effectLst/>
                <a:latin typeface="ProximaVara-Roman"/>
              </a:rPr>
              <a:t>. Cognitive Science, 7(2), 155-170.</a:t>
            </a:r>
            <a:br>
              <a:rPr lang="en-US" sz="1800" b="0" i="0" dirty="0">
                <a:solidFill>
                  <a:srgbClr val="000000"/>
                </a:solidFill>
                <a:effectLst/>
                <a:latin typeface="ProximaVara-Roman"/>
              </a:rPr>
            </a:br>
            <a:r>
              <a:rPr lang="en-US" sz="1800" b="0" i="0" dirty="0">
                <a:solidFill>
                  <a:srgbClr val="000000"/>
                </a:solidFill>
                <a:effectLst/>
                <a:latin typeface="ProximaVara-Roman"/>
              </a:rPr>
              <a:t>Holyoak, K. J., &amp; Thagard, P. (1995). </a:t>
            </a:r>
            <a:r>
              <a:rPr lang="en-US" sz="1800" b="0" i="1" dirty="0">
                <a:solidFill>
                  <a:srgbClr val="000000"/>
                </a:solidFill>
                <a:effectLst/>
                <a:latin typeface="ProximaVara-Roman"/>
              </a:rPr>
              <a:t>Mental Leaps: Analogy in Creative Thought</a:t>
            </a:r>
            <a:r>
              <a:rPr lang="en-US" sz="1800" b="0" i="0" dirty="0">
                <a:solidFill>
                  <a:srgbClr val="000000"/>
                </a:solidFill>
                <a:effectLst/>
                <a:latin typeface="ProximaVara-Roman"/>
              </a:rPr>
              <a:t>. MIT Press.</a:t>
            </a:r>
            <a:br>
              <a:rPr lang="en-US" sz="1800" b="0" i="0" dirty="0">
                <a:solidFill>
                  <a:srgbClr val="000000"/>
                </a:solidFill>
                <a:effectLst/>
                <a:latin typeface="ProximaVara-Roman"/>
              </a:rPr>
            </a:br>
            <a:r>
              <a:rPr lang="en-US" sz="1800" b="0" i="0" dirty="0">
                <a:solidFill>
                  <a:srgbClr val="000000"/>
                </a:solidFill>
                <a:effectLst/>
                <a:latin typeface="ProximaVara-Roman"/>
              </a:rPr>
              <a:t>Pearl, J. (2000). </a:t>
            </a:r>
            <a:r>
              <a:rPr lang="en-US" sz="1800" b="0" i="1" dirty="0">
                <a:solidFill>
                  <a:srgbClr val="000000"/>
                </a:solidFill>
                <a:effectLst/>
                <a:latin typeface="ProximaVara-Roman"/>
              </a:rPr>
              <a:t>Causality: Models, Reasoning, and Inference</a:t>
            </a:r>
            <a:r>
              <a:rPr lang="en-US" sz="1800" b="0" i="0" dirty="0">
                <a:solidFill>
                  <a:srgbClr val="000000"/>
                </a:solidFill>
                <a:effectLst/>
                <a:latin typeface="ProximaVara-Roman"/>
              </a:rPr>
              <a:t>. Cambridge University Press.</a:t>
            </a:r>
            <a:br>
              <a:rPr lang="en-US" sz="1800" b="0" i="0" dirty="0">
                <a:solidFill>
                  <a:srgbClr val="000000"/>
                </a:solidFill>
                <a:effectLst/>
                <a:latin typeface="ProximaVara-Roman"/>
              </a:rPr>
            </a:br>
            <a:r>
              <a:rPr lang="en-US" sz="1800" b="0" i="0" dirty="0" err="1">
                <a:solidFill>
                  <a:srgbClr val="000000"/>
                </a:solidFill>
                <a:effectLst/>
                <a:latin typeface="ProximaVara-Roman"/>
              </a:rPr>
              <a:t>Spirtes</a:t>
            </a:r>
            <a:r>
              <a:rPr lang="en-US" sz="1800" b="0" i="0" dirty="0">
                <a:solidFill>
                  <a:srgbClr val="000000"/>
                </a:solidFill>
                <a:effectLst/>
                <a:latin typeface="ProximaVara-Roman"/>
              </a:rPr>
              <a:t>, P., </a:t>
            </a:r>
            <a:r>
              <a:rPr lang="en-US" sz="1800" b="0" i="0" dirty="0" err="1">
                <a:solidFill>
                  <a:srgbClr val="000000"/>
                </a:solidFill>
                <a:effectLst/>
                <a:latin typeface="ProximaVara-Roman"/>
              </a:rPr>
              <a:t>Glymour</a:t>
            </a:r>
            <a:r>
              <a:rPr lang="en-US" sz="1800" b="0" i="0" dirty="0">
                <a:solidFill>
                  <a:srgbClr val="000000"/>
                </a:solidFill>
                <a:effectLst/>
                <a:latin typeface="ProximaVara-Roman"/>
              </a:rPr>
              <a:t>, C., &amp; </a:t>
            </a:r>
            <a:r>
              <a:rPr lang="en-US" sz="1800" b="0" i="0" dirty="0" err="1">
                <a:solidFill>
                  <a:srgbClr val="000000"/>
                </a:solidFill>
                <a:effectLst/>
                <a:latin typeface="ProximaVara-Roman"/>
              </a:rPr>
              <a:t>Scheines</a:t>
            </a:r>
            <a:r>
              <a:rPr lang="en-US" sz="1800" b="0" i="0" dirty="0">
                <a:solidFill>
                  <a:srgbClr val="000000"/>
                </a:solidFill>
                <a:effectLst/>
                <a:latin typeface="ProximaVara-Roman"/>
              </a:rPr>
              <a:t>, R. (2000). </a:t>
            </a:r>
            <a:r>
              <a:rPr lang="en-US" sz="1800" b="0" i="1" dirty="0">
                <a:solidFill>
                  <a:srgbClr val="000000"/>
                </a:solidFill>
                <a:effectLst/>
                <a:latin typeface="ProximaVara-Roman"/>
              </a:rPr>
              <a:t>Causation, Prediction, and Search</a:t>
            </a:r>
            <a:r>
              <a:rPr lang="en-US" sz="1800" b="0" i="0" dirty="0">
                <a:solidFill>
                  <a:srgbClr val="000000"/>
                </a:solidFill>
                <a:effectLst/>
                <a:latin typeface="ProximaVara-Roman"/>
              </a:rPr>
              <a:t>. MIT Press.</a:t>
            </a:r>
            <a:br>
              <a:rPr lang="en-US" b="0" i="0" dirty="0">
                <a:solidFill>
                  <a:srgbClr val="000000"/>
                </a:solidFill>
                <a:effectLst/>
                <a:latin typeface="ProximaVara-Roman"/>
              </a:rPr>
            </a:br>
            <a:r>
              <a:rPr lang="en-US" sz="1800" b="0" i="0" dirty="0">
                <a:solidFill>
                  <a:srgbClr val="000000"/>
                </a:solidFill>
                <a:effectLst/>
                <a:latin typeface="ProximaVara-Roman"/>
              </a:rPr>
              <a:t>Wei, J., et al. (2022). </a:t>
            </a:r>
            <a:r>
              <a:rPr lang="en-US" sz="1800" b="0" i="1" dirty="0">
                <a:solidFill>
                  <a:srgbClr val="000000"/>
                </a:solidFill>
                <a:effectLst/>
                <a:latin typeface="ProximaVara-Roman"/>
              </a:rPr>
              <a:t>Chain of Thought Prompting Elicits Reasoning in Large Language Models</a:t>
            </a:r>
            <a:r>
              <a:rPr lang="en-US" sz="1800" b="0" i="0" dirty="0">
                <a:solidFill>
                  <a:srgbClr val="000000"/>
                </a:solidFill>
                <a:effectLst/>
                <a:latin typeface="ProximaVara-Roman"/>
              </a:rPr>
              <a:t>. </a:t>
            </a:r>
            <a:r>
              <a:rPr lang="en-US" sz="1800" b="0" i="0" dirty="0" err="1">
                <a:solidFill>
                  <a:srgbClr val="000000"/>
                </a:solidFill>
                <a:effectLst/>
                <a:latin typeface="ProximaVara-Roman"/>
              </a:rPr>
              <a:t>arXiv</a:t>
            </a:r>
            <a:r>
              <a:rPr lang="en-US" sz="1800" b="0" i="0" dirty="0">
                <a:solidFill>
                  <a:srgbClr val="000000"/>
                </a:solidFill>
                <a:effectLst/>
                <a:latin typeface="ProximaVara-Roman"/>
              </a:rPr>
              <a:t> preprint arXiv:2201.11903.</a:t>
            </a:r>
            <a:br>
              <a:rPr lang="en-US" dirty="0"/>
            </a:br>
            <a:r>
              <a:rPr lang="en-US" sz="1800" b="0" i="0" dirty="0">
                <a:solidFill>
                  <a:srgbClr val="000000"/>
                </a:solidFill>
                <a:effectLst/>
                <a:latin typeface="ProximaVara-Roman"/>
              </a:rPr>
              <a:t>Hogan, A., et al. (2021). </a:t>
            </a:r>
            <a:r>
              <a:rPr lang="en-US" sz="1800" b="0" i="1" dirty="0">
                <a:solidFill>
                  <a:srgbClr val="000000"/>
                </a:solidFill>
                <a:effectLst/>
                <a:latin typeface="ProximaVara-Roman"/>
              </a:rPr>
              <a:t>Knowledge Graphs</a:t>
            </a:r>
            <a:r>
              <a:rPr lang="en-US" sz="1800" b="0" i="0" dirty="0">
                <a:solidFill>
                  <a:srgbClr val="000000"/>
                </a:solidFill>
                <a:effectLst/>
                <a:latin typeface="ProximaVara-Roman"/>
              </a:rPr>
              <a:t>. ACM Computing Surveys, 54(4), 1-37.</a:t>
            </a:r>
            <a:br>
              <a:rPr lang="en-US" sz="1800" b="0" i="0" dirty="0">
                <a:solidFill>
                  <a:srgbClr val="000000"/>
                </a:solidFill>
                <a:effectLst/>
                <a:latin typeface="ProximaVara-Roman"/>
              </a:rPr>
            </a:br>
            <a:r>
              <a:rPr lang="en-US" sz="1800" b="0" i="0" dirty="0">
                <a:solidFill>
                  <a:srgbClr val="000000"/>
                </a:solidFill>
                <a:effectLst/>
                <a:latin typeface="ProximaVara-Roman"/>
              </a:rPr>
              <a:t>Paulheim, H. (2017). </a:t>
            </a:r>
            <a:r>
              <a:rPr lang="en-US" sz="1800" b="0" i="1" dirty="0">
                <a:solidFill>
                  <a:srgbClr val="000000"/>
                </a:solidFill>
                <a:effectLst/>
                <a:latin typeface="ProximaVara-Roman"/>
              </a:rPr>
              <a:t>Knowledge Graphs: An Overview</a:t>
            </a:r>
            <a:r>
              <a:rPr lang="en-US" sz="1800" b="0" i="0" dirty="0">
                <a:solidFill>
                  <a:srgbClr val="000000"/>
                </a:solidFill>
                <a:effectLst/>
                <a:latin typeface="ProximaVara-Roman"/>
              </a:rPr>
              <a:t>. In </a:t>
            </a:r>
            <a:r>
              <a:rPr lang="en-US" sz="1800" b="0" i="1" dirty="0">
                <a:solidFill>
                  <a:srgbClr val="000000"/>
                </a:solidFill>
                <a:effectLst/>
                <a:latin typeface="ProximaVara-Roman"/>
              </a:rPr>
              <a:t>Proceedings of the 2017 IEEE International Conference on Data Mining Workshops (ICDMW)</a:t>
            </a:r>
            <a:r>
              <a:rPr lang="en-US" sz="1800" b="0" i="0" dirty="0">
                <a:solidFill>
                  <a:srgbClr val="000000"/>
                </a:solidFill>
                <a:effectLst/>
                <a:latin typeface="ProximaVara-Roman"/>
              </a:rPr>
              <a:t> (pp. 1-8). IEEE.</a:t>
            </a:r>
            <a:br>
              <a:rPr lang="en-US" sz="1800" b="0" i="0" dirty="0">
                <a:solidFill>
                  <a:srgbClr val="000000"/>
                </a:solidFill>
                <a:effectLst/>
                <a:latin typeface="ProximaVara-Roman"/>
              </a:rPr>
            </a:br>
            <a:endParaRPr lang="en-IN" sz="1800" b="1" dirty="0"/>
          </a:p>
        </p:txBody>
      </p:sp>
    </p:spTree>
    <p:extLst>
      <p:ext uri="{BB962C8B-B14F-4D97-AF65-F5344CB8AC3E}">
        <p14:creationId xmlns:p14="http://schemas.microsoft.com/office/powerpoint/2010/main" val="3446744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964</Words>
  <Application>Microsoft Office PowerPoint</Application>
  <PresentationFormat>Widescreen</PresentationFormat>
  <Paragraphs>101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ProximaVara-Roman</vt:lpstr>
      <vt:lpstr>Office Theme</vt:lpstr>
      <vt:lpstr>PowerPoint Presentation</vt:lpstr>
      <vt:lpstr>PowerPoint Presentation</vt:lpstr>
      <vt:lpstr>PowerPoint Presentation</vt:lpstr>
      <vt:lpstr>Comparison of Reasoning Approaches </vt:lpstr>
      <vt:lpstr>                           Strength and Weaknesses </vt:lpstr>
      <vt:lpstr>PowerPoint Presentation</vt:lpstr>
      <vt:lpstr>References Russell, B., &amp; Norvig, P. (2010). Artificial Intelligence: A Modern Approach. Prentice Hall. Copi, I. M., &amp; Cohen, C. (2011). Introduction to Logic. Pearson. Hume, D. (1748). An Enquiry Concerning Human Understanding. Goodman, N. (1955). Fact, Fiction, and Forecast. Harvard University Press. Peirce, C. S. (1903). Pragmatism as a Principle and Method of Right Thinking. Lipton, P. (2004). Inference to the Best Explanation. Routledge. Gentner, D. (1983). Structure-mapping: A theoretical framework for analogy. Cognitive Science, 7(2), 155-170. Holyoak, K. J., &amp; Thagard, P. (1995). Mental Leaps: Analogy in Creative Thought. MIT Press. Pearl, J. (2000). Causality: Models, Reasoning, and Inference. Cambridge University Press. Spirtes, P., Glymour, C., &amp; Scheines, R. (2000). Causation, Prediction, and Search. MIT Press. Wei, J., et al. (2022). Chain of Thought Prompting Elicits Reasoning in Large Language Models. arXiv preprint arXiv:2201.11903. Hogan, A., et al. (2021). Knowledge Graphs. ACM Computing Surveys, 54(4), 1-37. Paulheim, H. (2017). Knowledge Graphs: An Overview. In Proceedings of the 2017 IEEE International Conference on Data Mining Workshops (ICDMW) (pp. 1-8). IEEE.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Jyoti Rana</dc:creator>
  <cp:lastModifiedBy>Jyoti Rana</cp:lastModifiedBy>
  <cp:revision>1</cp:revision>
  <dcterms:created xsi:type="dcterms:W3CDTF">2025-04-26T12:50:27Z</dcterms:created>
  <dcterms:modified xsi:type="dcterms:W3CDTF">2025-04-26T13:28:59Z</dcterms:modified>
</cp:coreProperties>
</file>